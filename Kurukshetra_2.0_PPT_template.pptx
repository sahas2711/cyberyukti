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14" roundtripDataSignature="AMtx7mj3QD7TZ0cUpJcg0hSEMExATbbOV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customschemas.google.com/relationships/presentationmetadata" Target="meta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2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2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4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4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5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15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6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6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16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16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8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8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8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9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9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9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0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1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1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0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2.png"/><Relationship Id="rId5" Type="http://schemas.openxmlformats.org/officeDocument/2006/relationships/image" Target="../media/image1.png"/><Relationship Id="rId6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20C08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C9993F"/>
          </a:solidFill>
          <a:ln cap="flat" cmpd="sng" w="9525">
            <a:solidFill>
              <a:srgbClr val="C9993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"/>
          <p:cNvSpPr txBox="1"/>
          <p:nvPr/>
        </p:nvSpPr>
        <p:spPr>
          <a:xfrm>
            <a:off x="8412480" y="5943600"/>
            <a:ext cx="3108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F5EBD2"/>
                </a:solidFill>
                <a:latin typeface="Arial"/>
                <a:ea typeface="Arial"/>
                <a:cs typeface="Arial"/>
                <a:sym typeface="Arial"/>
              </a:rPr>
              <a:t>MIT ACSC • ALANDI, PUNE</a:t>
            </a:r>
            <a:endParaRPr/>
          </a:p>
        </p:txBody>
      </p:sp>
      <p:sp>
        <p:nvSpPr>
          <p:cNvPr id="86" name="Google Shape;86;p1"/>
          <p:cNvSpPr/>
          <p:nvPr/>
        </p:nvSpPr>
        <p:spPr>
          <a:xfrm>
            <a:off x="411480" y="1242345"/>
            <a:ext cx="11338560" cy="13716"/>
          </a:xfrm>
          <a:prstGeom prst="rect">
            <a:avLst/>
          </a:prstGeom>
          <a:solidFill>
            <a:srgbClr val="8B5B24"/>
          </a:solidFill>
          <a:ln cap="flat" cmpd="sng" w="9525">
            <a:solidFill>
              <a:srgbClr val="8B5B2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1"/>
          <p:cNvSpPr/>
          <p:nvPr/>
        </p:nvSpPr>
        <p:spPr>
          <a:xfrm>
            <a:off x="411480" y="6336792"/>
            <a:ext cx="11338560" cy="9144"/>
          </a:xfrm>
          <a:prstGeom prst="rect">
            <a:avLst/>
          </a:prstGeom>
          <a:solidFill>
            <a:srgbClr val="8B5B24"/>
          </a:solidFill>
          <a:ln cap="flat" cmpd="sng" w="9525">
            <a:solidFill>
              <a:srgbClr val="8B5B2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1"/>
          <p:cNvSpPr/>
          <p:nvPr/>
        </p:nvSpPr>
        <p:spPr>
          <a:xfrm>
            <a:off x="8415814" y="0"/>
            <a:ext cx="4142232" cy="6858000"/>
          </a:xfrm>
          <a:prstGeom prst="rect">
            <a:avLst/>
          </a:prstGeom>
          <a:solidFill>
            <a:srgbClr val="21110C"/>
          </a:solidFill>
          <a:ln cap="flat" cmpd="sng" w="9525">
            <a:solidFill>
              <a:srgbClr val="21110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"/>
          <p:cNvSpPr txBox="1"/>
          <p:nvPr/>
        </p:nvSpPr>
        <p:spPr>
          <a:xfrm>
            <a:off x="416730" y="321475"/>
            <a:ext cx="74676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400" u="none" cap="none" strike="noStrike">
                <a:solidFill>
                  <a:srgbClr val="F5EBD2"/>
                </a:solidFill>
                <a:latin typeface="Angsana New"/>
                <a:ea typeface="Angsana New"/>
                <a:cs typeface="Angsana New"/>
                <a:sym typeface="Angsana New"/>
              </a:rPr>
              <a:t>KURUKSHETRA 2.0</a:t>
            </a:r>
            <a:r>
              <a:rPr b="0" i="0" lang="en-US" sz="4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​</a:t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1"/>
          <p:cNvSpPr txBox="1"/>
          <p:nvPr/>
        </p:nvSpPr>
        <p:spPr>
          <a:xfrm>
            <a:off x="416731" y="785800"/>
            <a:ext cx="46170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F5EBD2"/>
                </a:solidFill>
                <a:latin typeface="Angsana New"/>
                <a:ea typeface="Angsana New"/>
                <a:cs typeface="Angsana New"/>
                <a:sym typeface="Angsana New"/>
              </a:rPr>
              <a:t>HACKFEST 2026</a:t>
            </a:r>
            <a:endParaRPr sz="2800">
              <a:solidFill>
                <a:srgbClr val="000000"/>
              </a:solidFill>
              <a:latin typeface="Angsana New"/>
              <a:ea typeface="Angsana New"/>
              <a:cs typeface="Angsana New"/>
              <a:sym typeface="Angsana New"/>
            </a:endParaRPr>
          </a:p>
        </p:txBody>
      </p:sp>
      <p:sp>
        <p:nvSpPr>
          <p:cNvPr id="91" name="Google Shape;91;p1"/>
          <p:cNvSpPr txBox="1"/>
          <p:nvPr/>
        </p:nvSpPr>
        <p:spPr>
          <a:xfrm>
            <a:off x="543023" y="2677625"/>
            <a:ext cx="7215000" cy="354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400"/>
              </a:spcAft>
              <a:buNone/>
              <a:defRPr sz="1800" b="1"/>
            </a:pPr>
            <a:r>
              <a:t>•  Problem ID - PS16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endParaRPr b="1" sz="3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>
              <a:spcAft>
                <a:spcPts val="400"/>
              </a:spcAft>
              <a:defRPr sz="1800" b="1"/>
            </a:pPr>
            <a:r>
              <a:t>•  Problem Statement - Autonomous Vulnerability Triage &amp; Evidence Engine</a:t>
            </a:r>
          </a:p>
          <a:p>
            <a:pPr>
              <a:spcAft>
                <a:spcPts val="400"/>
              </a:spcAft>
              <a:defRPr sz="1800" b="1"/>
            </a:pPr>
            <a:r>
              <a:t>•  Theme - Cyber &amp; Blockchain</a:t>
            </a:r>
          </a:p>
          <a:p>
            <a:pPr>
              <a:spcAft>
                <a:spcPts val="400"/>
              </a:spcAft>
              <a:defRPr sz="1800" b="1"/>
            </a:pPr>
            <a:r>
              <a:t>•  Team ID - KH079</a:t>
            </a:r>
          </a:p>
          <a:p>
            <a:pPr>
              <a:spcAft>
                <a:spcPts val="400"/>
              </a:spcAft>
              <a:defRPr sz="1800" b="1"/>
            </a:pPr>
            <a:r>
              <a:t>•  Team name - Sudarshan_MITAOE</a:t>
            </a:r>
          </a:p>
        </p:txBody>
      </p:sp>
      <p:sp>
        <p:nvSpPr>
          <p:cNvPr id="92" name="Google Shape;92;p1"/>
          <p:cNvSpPr txBox="1"/>
          <p:nvPr/>
        </p:nvSpPr>
        <p:spPr>
          <a:xfrm>
            <a:off x="8384538" y="332790"/>
            <a:ext cx="3810001" cy="9848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00">
                <a:solidFill>
                  <a:srgbClr val="F5EBD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TITLE PAGE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3" name="Google Shape;93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72343" y="1365975"/>
            <a:ext cx="4819650" cy="4695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20C08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C9993F"/>
          </a:solidFill>
          <a:ln cap="flat" cmpd="sng" w="9525">
            <a:solidFill>
              <a:srgbClr val="C9993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2"/>
          <p:cNvSpPr txBox="1"/>
          <p:nvPr/>
        </p:nvSpPr>
        <p:spPr>
          <a:xfrm>
            <a:off x="10067449" y="6348414"/>
            <a:ext cx="1680211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F5EBD2"/>
                </a:solidFill>
                <a:latin typeface="Arial"/>
                <a:ea typeface="Arial"/>
                <a:cs typeface="Arial"/>
                <a:sym typeface="Arial"/>
              </a:rPr>
              <a:t>MIT ACSC • ALANDI, PUNE</a:t>
            </a:r>
            <a:endParaRPr/>
          </a:p>
        </p:txBody>
      </p:sp>
      <p:sp>
        <p:nvSpPr>
          <p:cNvPr id="100" name="Google Shape;100;p2"/>
          <p:cNvSpPr/>
          <p:nvPr/>
        </p:nvSpPr>
        <p:spPr>
          <a:xfrm>
            <a:off x="411480" y="6336792"/>
            <a:ext cx="11338560" cy="9144"/>
          </a:xfrm>
          <a:prstGeom prst="rect">
            <a:avLst/>
          </a:prstGeom>
          <a:solidFill>
            <a:srgbClr val="8B5B24"/>
          </a:solidFill>
          <a:ln cap="flat" cmpd="sng" w="9525">
            <a:solidFill>
              <a:srgbClr val="8B5B2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2"/>
          <p:cNvSpPr/>
          <p:nvPr/>
        </p:nvSpPr>
        <p:spPr>
          <a:xfrm>
            <a:off x="19774376" y="0"/>
            <a:ext cx="4142232" cy="6858000"/>
          </a:xfrm>
          <a:prstGeom prst="rect">
            <a:avLst/>
          </a:prstGeom>
          <a:solidFill>
            <a:srgbClr val="21110C"/>
          </a:solidFill>
          <a:ln cap="flat" cmpd="sng" w="9525">
            <a:solidFill>
              <a:srgbClr val="21110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2"/>
          <p:cNvSpPr txBox="1"/>
          <p:nvPr/>
        </p:nvSpPr>
        <p:spPr>
          <a:xfrm>
            <a:off x="416719" y="-7286626"/>
            <a:ext cx="6369843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strike="noStrike">
                <a:solidFill>
                  <a:srgbClr val="F5EBD2"/>
                </a:solidFill>
                <a:latin typeface="Angsana New"/>
                <a:ea typeface="Angsana New"/>
                <a:cs typeface="Angsana New"/>
                <a:sym typeface="Angsana New"/>
              </a:rPr>
              <a:t>KURUKSHETRA 2.0</a:t>
            </a:r>
            <a:r>
              <a:rPr b="0" i="0" lang="en-US" sz="3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​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2"/>
          <p:cNvSpPr txBox="1"/>
          <p:nvPr/>
        </p:nvSpPr>
        <p:spPr>
          <a:xfrm>
            <a:off x="416718" y="-6834188"/>
            <a:ext cx="2583656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F5EBD2"/>
                </a:solidFill>
                <a:latin typeface="Angsana New"/>
                <a:ea typeface="Angsana New"/>
                <a:cs typeface="Angsana New"/>
                <a:sym typeface="Angsana New"/>
              </a:rPr>
              <a:t>HACKFEST 2026</a:t>
            </a:r>
            <a:endParaRPr sz="2800">
              <a:solidFill>
                <a:srgbClr val="000000"/>
              </a:solidFill>
              <a:latin typeface="Angsana New"/>
              <a:ea typeface="Angsana New"/>
              <a:cs typeface="Angsana New"/>
              <a:sym typeface="Angsana New"/>
            </a:endParaRPr>
          </a:p>
        </p:txBody>
      </p:sp>
      <p:sp>
        <p:nvSpPr>
          <p:cNvPr id="104" name="Google Shape;104;p2"/>
          <p:cNvSpPr txBox="1"/>
          <p:nvPr/>
        </p:nvSpPr>
        <p:spPr>
          <a:xfrm>
            <a:off x="19942969" y="345282"/>
            <a:ext cx="3810001" cy="9848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00">
                <a:solidFill>
                  <a:srgbClr val="F5EBD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TITLE PAGE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5" name="Google Shape;105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270330" y="176212"/>
            <a:ext cx="1712120" cy="1707357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2"/>
          <p:cNvSpPr txBox="1"/>
          <p:nvPr/>
        </p:nvSpPr>
        <p:spPr>
          <a:xfrm>
            <a:off x="285750" y="130975"/>
            <a:ext cx="3810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400"/>
              </a:spcAft>
              <a:buNone/>
              <a:defRPr sz="1200" b="1"/>
            </a:pPr>
            <a:r>
              <a:t>Sudarshan_MITAOE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2"/>
          <p:cNvSpPr txBox="1"/>
          <p:nvPr/>
        </p:nvSpPr>
        <p:spPr>
          <a:xfrm>
            <a:off x="411479" y="6348415"/>
            <a:ext cx="239554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F5EBD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2"/>
          <p:cNvSpPr txBox="1"/>
          <p:nvPr/>
        </p:nvSpPr>
        <p:spPr>
          <a:xfrm>
            <a:off x="2893218" y="381000"/>
            <a:ext cx="6381750" cy="95410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F5EBD2"/>
                </a:solidFill>
                <a:latin typeface="Cambria"/>
                <a:ea typeface="Cambria"/>
                <a:cs typeface="Cambria"/>
                <a:sym typeface="Cambria"/>
              </a:rPr>
              <a:t>Understanding the Problem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9" name="Google Shape;109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16725" y="1331027"/>
            <a:ext cx="9894099" cy="1319113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2"/>
          <p:cNvSpPr txBox="1"/>
          <p:nvPr/>
        </p:nvSpPr>
        <p:spPr>
          <a:xfrm>
            <a:off x="615225" y="1566200"/>
            <a:ext cx="9497100" cy="12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7345" lvl="0" marL="347345" marR="0" rtl="0" algn="l">
              <a:spcBef>
                <a:spcPts val="0"/>
              </a:spcBef>
              <a:spcAft>
                <a:spcPts val="400"/>
              </a:spcAft>
              <a:buClr>
                <a:srgbClr val="241014"/>
              </a:buClr>
              <a:buSzPts val="1800"/>
              <a:buFont typeface="Arial"/>
              <a:buChar char="–"/>
              <a:defRPr sz="1400" b="1"/>
            </a:pPr>
            <a:r>
              <a:t>CyberYukti is an autonomous vulnerability triage and deterministic evidence validation engine that reduces alert noise generated by scanning tools into verified, prioritized, and analyst-ready security cases.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 black frame with a white background&#10;&#10;AI-generated content may be incorrect." id="111" name="Google Shape;111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16726" y="2717151"/>
            <a:ext cx="5679276" cy="3619423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2"/>
          <p:cNvSpPr txBox="1"/>
          <p:nvPr/>
        </p:nvSpPr>
        <p:spPr>
          <a:xfrm>
            <a:off x="615225" y="3272000"/>
            <a:ext cx="5480700" cy="286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18745" lvl="0" marL="347345" marR="0" rtl="0" algn="l">
              <a:spcBef>
                <a:spcPts val="0"/>
              </a:spcBef>
              <a:spcAft>
                <a:spcPts val="400"/>
              </a:spcAft>
              <a:buClr>
                <a:schemeClr val="dk1"/>
              </a:buClr>
              <a:buSzPts val="3600"/>
              <a:buFont typeface="Arial"/>
              <a:buNone/>
              <a:defRPr sz="1200" b="0"/>
            </a:pPr>
            <a:r>
              <a:t>• Alert Fatigue: 1 real flaw triggers 10+ alerts across Trivy, Semgrep, and Nuclei.</a:t>
            </a:r>
            <a:endParaRPr sz="3600">
              <a:solidFill>
                <a:srgbClr val="24101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>
              <a:spcAft>
                <a:spcPts val="400"/>
              </a:spcAft>
              <a:defRPr sz="1200" b="0"/>
            </a:pPr>
            <a:r>
              <a:t>• Stale &amp; Ghost Findings: Up to 40% of scanner alerts flag libraries already patched in production or unexposed.</a:t>
            </a:r>
          </a:p>
          <a:p>
            <a:pPr>
              <a:spcAft>
                <a:spcPts val="400"/>
              </a:spcAft>
              <a:defRPr sz="1200" b="0"/>
            </a:pPr>
            <a:r>
              <a:t>• Naive AI Risks: Generic LLM wrappers hallucinate fake CVEs and are vulnerable to prompt-injection attacks in scanner outputs.</a:t>
            </a:r>
          </a:p>
        </p:txBody>
      </p:sp>
      <p:pic>
        <p:nvPicPr>
          <p:cNvPr descr="A black frame with a white background&#10;&#10;AI-generated content may be incorrect." id="113" name="Google Shape;113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95999" y="3009817"/>
            <a:ext cx="5238751" cy="3338676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2"/>
          <p:cNvSpPr txBox="1"/>
          <p:nvPr/>
        </p:nvSpPr>
        <p:spPr>
          <a:xfrm>
            <a:off x="6215064" y="4012406"/>
            <a:ext cx="4988700" cy="252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400"/>
              </a:spcAft>
              <a:buNone/>
              <a:defRPr sz="1200" b="0"/>
            </a:pPr>
            <a:r>
              <a:t>• Security Analysts (SOC, AppSec): Overwhelmed by alert volume and manual verification.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endParaRPr sz="20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endParaRPr sz="20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>
              <a:spcAft>
                <a:spcPts val="400"/>
              </a:spcAft>
              <a:defRPr sz="1200" b="0"/>
            </a:pPr>
            <a:r>
              <a:t>• DevSecOps Engineers: Blocked by false-positive security tickets that stall CI/CD.</a:t>
            </a:r>
          </a:p>
          <a:p>
            <a:pPr>
              <a:spcAft>
                <a:spcPts val="400"/>
              </a:spcAft>
              <a:defRPr sz="1200" b="0"/>
            </a:pPr>
            <a:r>
              <a:t>• CISOs &amp; Compliance Teams: Lack tamper-evident audit trails for SOC 2 / ISO 27001.</a:t>
            </a:r>
          </a:p>
        </p:txBody>
      </p:sp>
      <p:sp>
        <p:nvSpPr>
          <p:cNvPr id="115" name="Google Shape;115;p2"/>
          <p:cNvSpPr txBox="1"/>
          <p:nvPr/>
        </p:nvSpPr>
        <p:spPr>
          <a:xfrm>
            <a:off x="651019" y="2858138"/>
            <a:ext cx="60960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7A1128"/>
                </a:solidFill>
                <a:latin typeface="Cambria"/>
                <a:ea typeface="Cambria"/>
                <a:cs typeface="Cambria"/>
                <a:sym typeface="Cambria"/>
              </a:rPr>
              <a:t>Problem Analysis / Background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2"/>
          <p:cNvSpPr txBox="1"/>
          <p:nvPr/>
        </p:nvSpPr>
        <p:spPr>
          <a:xfrm>
            <a:off x="6369844" y="3464719"/>
            <a:ext cx="4131469" cy="6771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7A1128"/>
                </a:solidFill>
                <a:latin typeface="Cambria"/>
                <a:ea typeface="Cambria"/>
                <a:cs typeface="Cambria"/>
                <a:sym typeface="Cambria"/>
              </a:rPr>
              <a:t>Who It Affects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20C08"/>
        </a:solidFill>
      </p:bgPr>
    </p:bg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3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C9993F"/>
          </a:solidFill>
          <a:ln cap="flat" cmpd="sng" w="9525">
            <a:solidFill>
              <a:srgbClr val="C9993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3"/>
          <p:cNvSpPr txBox="1"/>
          <p:nvPr/>
        </p:nvSpPr>
        <p:spPr>
          <a:xfrm>
            <a:off x="10067449" y="6348414"/>
            <a:ext cx="1680211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F5EBD2"/>
                </a:solidFill>
                <a:latin typeface="Arial"/>
                <a:ea typeface="Arial"/>
                <a:cs typeface="Arial"/>
                <a:sym typeface="Arial"/>
              </a:rPr>
              <a:t>MIT ACSC • ALANDI, PUNE</a:t>
            </a:r>
            <a:endParaRPr/>
          </a:p>
        </p:txBody>
      </p:sp>
      <p:sp>
        <p:nvSpPr>
          <p:cNvPr id="123" name="Google Shape;123;p3"/>
          <p:cNvSpPr/>
          <p:nvPr/>
        </p:nvSpPr>
        <p:spPr>
          <a:xfrm>
            <a:off x="411480" y="6336792"/>
            <a:ext cx="11338560" cy="9144"/>
          </a:xfrm>
          <a:prstGeom prst="rect">
            <a:avLst/>
          </a:prstGeom>
          <a:solidFill>
            <a:srgbClr val="8B5B24"/>
          </a:solidFill>
          <a:ln cap="flat" cmpd="sng" w="9525">
            <a:solidFill>
              <a:srgbClr val="8B5B2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3"/>
          <p:cNvSpPr/>
          <p:nvPr/>
        </p:nvSpPr>
        <p:spPr>
          <a:xfrm>
            <a:off x="19774376" y="0"/>
            <a:ext cx="4142232" cy="6858000"/>
          </a:xfrm>
          <a:prstGeom prst="rect">
            <a:avLst/>
          </a:prstGeom>
          <a:solidFill>
            <a:srgbClr val="21110C"/>
          </a:solidFill>
          <a:ln cap="flat" cmpd="sng" w="9525">
            <a:solidFill>
              <a:srgbClr val="21110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3"/>
          <p:cNvSpPr txBox="1"/>
          <p:nvPr/>
        </p:nvSpPr>
        <p:spPr>
          <a:xfrm>
            <a:off x="416719" y="-7286626"/>
            <a:ext cx="6369843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strike="noStrike">
                <a:solidFill>
                  <a:srgbClr val="F5EBD2"/>
                </a:solidFill>
                <a:latin typeface="Angsana New"/>
                <a:ea typeface="Angsana New"/>
                <a:cs typeface="Angsana New"/>
                <a:sym typeface="Angsana New"/>
              </a:rPr>
              <a:t>KURUKSHETRA 2.0</a:t>
            </a:r>
            <a:r>
              <a:rPr b="0" i="0" lang="en-US" sz="3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​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3"/>
          <p:cNvSpPr txBox="1"/>
          <p:nvPr/>
        </p:nvSpPr>
        <p:spPr>
          <a:xfrm>
            <a:off x="416718" y="-6834188"/>
            <a:ext cx="2583656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F5EBD2"/>
                </a:solidFill>
                <a:latin typeface="Angsana New"/>
                <a:ea typeface="Angsana New"/>
                <a:cs typeface="Angsana New"/>
                <a:sym typeface="Angsana New"/>
              </a:rPr>
              <a:t>HACKFEST 2026</a:t>
            </a:r>
            <a:endParaRPr sz="2800">
              <a:solidFill>
                <a:srgbClr val="000000"/>
              </a:solidFill>
              <a:latin typeface="Angsana New"/>
              <a:ea typeface="Angsana New"/>
              <a:cs typeface="Angsana New"/>
              <a:sym typeface="Angsana New"/>
            </a:endParaRPr>
          </a:p>
        </p:txBody>
      </p:sp>
      <p:sp>
        <p:nvSpPr>
          <p:cNvPr id="127" name="Google Shape;127;p3"/>
          <p:cNvSpPr txBox="1"/>
          <p:nvPr/>
        </p:nvSpPr>
        <p:spPr>
          <a:xfrm>
            <a:off x="19942969" y="345282"/>
            <a:ext cx="3810001" cy="9848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00">
                <a:solidFill>
                  <a:srgbClr val="F5EBD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TITLE PAGE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8" name="Google Shape;128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270330" y="176212"/>
            <a:ext cx="1712120" cy="1707357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3"/>
          <p:cNvSpPr txBox="1"/>
          <p:nvPr/>
        </p:nvSpPr>
        <p:spPr>
          <a:xfrm>
            <a:off x="285750" y="130975"/>
            <a:ext cx="2927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F5EBD2"/>
                </a:solidFill>
              </a:rPr>
              <a:t>Sudarshan_MITAOE 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3"/>
          <p:cNvSpPr txBox="1"/>
          <p:nvPr/>
        </p:nvSpPr>
        <p:spPr>
          <a:xfrm>
            <a:off x="411479" y="6348415"/>
            <a:ext cx="239554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F5EBD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3"/>
          <p:cNvSpPr txBox="1"/>
          <p:nvPr/>
        </p:nvSpPr>
        <p:spPr>
          <a:xfrm>
            <a:off x="2893225" y="307227"/>
            <a:ext cx="6381900" cy="95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F5EBD2"/>
                </a:solidFill>
                <a:latin typeface="Cambria"/>
                <a:ea typeface="Cambria"/>
                <a:cs typeface="Cambria"/>
                <a:sym typeface="Cambria"/>
              </a:rPr>
              <a:t>Proposed solution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2" name="Google Shape;132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16725" y="1110226"/>
            <a:ext cx="9894099" cy="1892625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3"/>
          <p:cNvSpPr txBox="1"/>
          <p:nvPr/>
        </p:nvSpPr>
        <p:spPr>
          <a:xfrm>
            <a:off x="654850" y="1657875"/>
            <a:ext cx="9479100" cy="10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33045" lvl="0" marL="347345" rtl="0" algn="l">
              <a:spcBef>
                <a:spcPts val="0"/>
              </a:spcBef>
              <a:spcAft>
                <a:spcPts val="400"/>
              </a:spcAft>
              <a:buClr>
                <a:schemeClr val="dk1"/>
              </a:buClr>
              <a:buSzPts val="1100"/>
              <a:buFont typeface="Arial"/>
              <a:buNone/>
              <a:defRPr sz="1150" b="0"/>
            </a:pPr>
            <a:r>
              <a:t>• Idea / Solution: Dual-rail autonomous engine combining deterministic sandbox probes with bounded AI explanation.</a:t>
            </a:r>
            <a:endParaRPr sz="1600">
              <a:solidFill>
                <a:srgbClr val="24101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33045" lvl="0" marL="347345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600">
              <a:solidFill>
                <a:srgbClr val="24101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>
              <a:spcAft>
                <a:spcPts val="400"/>
              </a:spcAft>
              <a:defRPr sz="1150" b="0"/>
            </a:pPr>
            <a:r>
              <a:t>• Direct PS16 Alignment: Ingests multi-format scans, clusters duplicates (90.5% noise cut), safely probes sandbox targets, calculates math-based risk, and enforces human approval.</a:t>
            </a:r>
          </a:p>
        </p:txBody>
      </p:sp>
      <p:pic>
        <p:nvPicPr>
          <p:cNvPr descr="A black frame with a white background&#10;&#10;AI-generated content may be incorrect." id="134" name="Google Shape;134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16718" y="2997911"/>
            <a:ext cx="5238751" cy="3338676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3"/>
          <p:cNvSpPr txBox="1"/>
          <p:nvPr/>
        </p:nvSpPr>
        <p:spPr>
          <a:xfrm>
            <a:off x="583405" y="4012406"/>
            <a:ext cx="4786309" cy="150810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400"/>
              </a:spcAft>
              <a:buNone/>
              <a:defRPr sz="1150" b="0"/>
            </a:pPr>
            <a:r>
              <a:t>• Dual-Rail Zero-Trust: LLM never decides security truth; mathematical code handles validation and scoring.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rgbClr val="24101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18745" lvl="0" marL="347345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endParaRPr sz="3600">
              <a:solidFill>
                <a:srgbClr val="24101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>
              <a:spcAft>
                <a:spcPts val="400"/>
              </a:spcAft>
              <a:defRPr sz="1150" b="0"/>
            </a:pPr>
            <a:r>
              <a:t>• Dynamic Re-Prioritization: Live sandbox probes prove patched assets, auto-demoting priority (P2 → P3).</a:t>
            </a:r>
          </a:p>
          <a:p>
            <a:pPr>
              <a:spcAft>
                <a:spcPts val="400"/>
              </a:spcAft>
              <a:defRPr sz="1150" b="0"/>
            </a:pPr>
            <a:r>
              <a:t>• Poison-Proof AI: 24-field quarantine sanitizer prevents prompt-injection hijacking.</a:t>
            </a:r>
          </a:p>
        </p:txBody>
      </p:sp>
      <p:pic>
        <p:nvPicPr>
          <p:cNvPr descr="A black frame with a white background&#10;&#10;AI-generated content may be incorrect." id="136" name="Google Shape;136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95999" y="3009817"/>
            <a:ext cx="5238751" cy="3338676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3"/>
          <p:cNvSpPr txBox="1"/>
          <p:nvPr/>
        </p:nvSpPr>
        <p:spPr>
          <a:xfrm>
            <a:off x="6215064" y="4012406"/>
            <a:ext cx="4988718" cy="15388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400"/>
              </a:spcAft>
              <a:buNone/>
              <a:defRPr sz="1150" b="0"/>
            </a:pPr>
            <a:r>
              <a:t>• Conventional Tools (Jira, DefectDojo): Passive databases requiring manual verification.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rgbClr val="24101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>
              <a:spcAft>
                <a:spcPts val="400"/>
              </a:spcAft>
              <a:defRPr sz="1150" b="0"/>
            </a:pPr>
            <a:r>
              <a:t>• Commercial ASPMs (Snyk, Wiz): Proprietary reachability with vendor lock-in.</a:t>
            </a:r>
          </a:p>
          <a:p>
            <a:pPr>
              <a:spcAft>
                <a:spcPts val="400"/>
              </a:spcAft>
              <a:defRPr sz="1150" b="0"/>
            </a:pPr>
            <a:r>
              <a:t>• CyberYukti Advantage: Cross-tool SAST × DAST × SCA reachability on open-source tools with SHA-256 hash chaining.</a:t>
            </a:r>
          </a:p>
        </p:txBody>
      </p:sp>
      <p:sp>
        <p:nvSpPr>
          <p:cNvPr id="138" name="Google Shape;138;p3"/>
          <p:cNvSpPr txBox="1"/>
          <p:nvPr/>
        </p:nvSpPr>
        <p:spPr>
          <a:xfrm>
            <a:off x="654844" y="3452812"/>
            <a:ext cx="3988594" cy="6771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7A1128"/>
                </a:solidFill>
                <a:latin typeface="Cambria"/>
                <a:ea typeface="Cambria"/>
                <a:cs typeface="Cambria"/>
                <a:sym typeface="Cambria"/>
              </a:rPr>
              <a:t>Innovation &amp; Uniqueness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3"/>
          <p:cNvSpPr txBox="1"/>
          <p:nvPr/>
        </p:nvSpPr>
        <p:spPr>
          <a:xfrm>
            <a:off x="6369844" y="3464719"/>
            <a:ext cx="4131469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7A1128"/>
                </a:solidFill>
                <a:latin typeface="Cambria"/>
                <a:ea typeface="Cambria"/>
                <a:cs typeface="Cambria"/>
                <a:sym typeface="Cambria"/>
              </a:rPr>
              <a:t>Existing Solutions / Similar Work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3"/>
          <p:cNvSpPr txBox="1"/>
          <p:nvPr/>
        </p:nvSpPr>
        <p:spPr>
          <a:xfrm>
            <a:off x="651013" y="1261525"/>
            <a:ext cx="6096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7A1128"/>
                </a:solidFill>
                <a:latin typeface="Cambria"/>
                <a:ea typeface="Cambria"/>
                <a:cs typeface="Cambria"/>
                <a:sym typeface="Cambria"/>
              </a:rPr>
              <a:t>Solution Overview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20C08"/>
        </a:solidFill>
      </p:bgPr>
    </p:bg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4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C9993F"/>
          </a:solidFill>
          <a:ln cap="flat" cmpd="sng" w="9525">
            <a:solidFill>
              <a:srgbClr val="C9993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4"/>
          <p:cNvSpPr txBox="1"/>
          <p:nvPr/>
        </p:nvSpPr>
        <p:spPr>
          <a:xfrm>
            <a:off x="10067449" y="6348414"/>
            <a:ext cx="1680211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F5EBD2"/>
                </a:solidFill>
                <a:latin typeface="Arial"/>
                <a:ea typeface="Arial"/>
                <a:cs typeface="Arial"/>
                <a:sym typeface="Arial"/>
              </a:rPr>
              <a:t>MIT ACSC • ALANDI, PUNE</a:t>
            </a:r>
            <a:endParaRPr/>
          </a:p>
        </p:txBody>
      </p:sp>
      <p:sp>
        <p:nvSpPr>
          <p:cNvPr id="147" name="Google Shape;147;p4"/>
          <p:cNvSpPr/>
          <p:nvPr/>
        </p:nvSpPr>
        <p:spPr>
          <a:xfrm>
            <a:off x="411480" y="6336792"/>
            <a:ext cx="11338560" cy="9144"/>
          </a:xfrm>
          <a:prstGeom prst="rect">
            <a:avLst/>
          </a:prstGeom>
          <a:solidFill>
            <a:srgbClr val="8B5B24"/>
          </a:solidFill>
          <a:ln cap="flat" cmpd="sng" w="9525">
            <a:solidFill>
              <a:srgbClr val="8B5B2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4"/>
          <p:cNvSpPr/>
          <p:nvPr/>
        </p:nvSpPr>
        <p:spPr>
          <a:xfrm>
            <a:off x="19774376" y="0"/>
            <a:ext cx="4142232" cy="6858000"/>
          </a:xfrm>
          <a:prstGeom prst="rect">
            <a:avLst/>
          </a:prstGeom>
          <a:solidFill>
            <a:srgbClr val="21110C"/>
          </a:solidFill>
          <a:ln cap="flat" cmpd="sng" w="9525">
            <a:solidFill>
              <a:srgbClr val="21110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4"/>
          <p:cNvSpPr txBox="1"/>
          <p:nvPr/>
        </p:nvSpPr>
        <p:spPr>
          <a:xfrm>
            <a:off x="416719" y="-7286626"/>
            <a:ext cx="6369843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strike="noStrike">
                <a:solidFill>
                  <a:srgbClr val="F5EBD2"/>
                </a:solidFill>
                <a:latin typeface="Angsana New"/>
                <a:ea typeface="Angsana New"/>
                <a:cs typeface="Angsana New"/>
                <a:sym typeface="Angsana New"/>
              </a:rPr>
              <a:t>KURUKSHETRA 2.0</a:t>
            </a:r>
            <a:r>
              <a:rPr b="0" i="0" lang="en-US" sz="3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​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4"/>
          <p:cNvSpPr txBox="1"/>
          <p:nvPr/>
        </p:nvSpPr>
        <p:spPr>
          <a:xfrm>
            <a:off x="416718" y="-6834188"/>
            <a:ext cx="2583656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F5EBD2"/>
                </a:solidFill>
                <a:latin typeface="Angsana New"/>
                <a:ea typeface="Angsana New"/>
                <a:cs typeface="Angsana New"/>
                <a:sym typeface="Angsana New"/>
              </a:rPr>
              <a:t>HACKFEST 2026</a:t>
            </a:r>
            <a:endParaRPr sz="2800">
              <a:solidFill>
                <a:srgbClr val="000000"/>
              </a:solidFill>
              <a:latin typeface="Angsana New"/>
              <a:ea typeface="Angsana New"/>
              <a:cs typeface="Angsana New"/>
              <a:sym typeface="Angsana New"/>
            </a:endParaRPr>
          </a:p>
        </p:txBody>
      </p:sp>
      <p:sp>
        <p:nvSpPr>
          <p:cNvPr id="151" name="Google Shape;151;p4"/>
          <p:cNvSpPr txBox="1"/>
          <p:nvPr/>
        </p:nvSpPr>
        <p:spPr>
          <a:xfrm>
            <a:off x="19942969" y="345282"/>
            <a:ext cx="3810001" cy="9848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00">
                <a:solidFill>
                  <a:srgbClr val="F5EBD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TITLE PAGE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2" name="Google Shape;152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270330" y="176212"/>
            <a:ext cx="1712120" cy="1707357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4"/>
          <p:cNvSpPr txBox="1"/>
          <p:nvPr/>
        </p:nvSpPr>
        <p:spPr>
          <a:xfrm>
            <a:off x="285750" y="130969"/>
            <a:ext cx="1714500" cy="3812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400"/>
              </a:spcAft>
              <a:buNone/>
              <a:defRPr sz="1200" b="1"/>
            </a:pPr>
            <a:r>
              <a:t>Sudarshan_MITAOE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4"/>
          <p:cNvSpPr txBox="1"/>
          <p:nvPr/>
        </p:nvSpPr>
        <p:spPr>
          <a:xfrm>
            <a:off x="411479" y="6348415"/>
            <a:ext cx="239554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F5EBD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4"/>
          <p:cNvSpPr txBox="1"/>
          <p:nvPr/>
        </p:nvSpPr>
        <p:spPr>
          <a:xfrm>
            <a:off x="2893218" y="378649"/>
            <a:ext cx="6381750" cy="95410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F5EBD2"/>
                </a:solidFill>
                <a:latin typeface="Cambria"/>
                <a:ea typeface="Cambria"/>
                <a:cs typeface="Cambria"/>
                <a:sym typeface="Cambria"/>
              </a:rPr>
              <a:t>Technical Approach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6" name="Google Shape;156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16719" y="1069099"/>
            <a:ext cx="4988720" cy="2433801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4"/>
          <p:cNvSpPr txBox="1"/>
          <p:nvPr/>
        </p:nvSpPr>
        <p:spPr>
          <a:xfrm>
            <a:off x="654844" y="1881188"/>
            <a:ext cx="6905624" cy="9590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400"/>
              </a:spcAft>
              <a:buNone/>
              <a:defRPr sz="1100" b="0"/>
            </a:pPr>
            <a:r>
              <a:t>• Languages &amp; Frameworks: Python 3.12, FastAPI, Next.js 14, React 18, TypeScript, Tailwind CSS.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>
              <a:spcAft>
                <a:spcPts val="400"/>
              </a:spcAft>
              <a:defRPr sz="1100" b="0"/>
            </a:pPr>
            <a:r>
              <a:t>• Validation Libraries: Pydantic v2, Python packaging.version, HTTPX, Docker SDK.</a:t>
            </a:r>
          </a:p>
          <a:p>
            <a:pPr>
              <a:spcAft>
                <a:spcPts val="400"/>
              </a:spcAft>
              <a:defRPr sz="1100" b="0"/>
            </a:pPr>
            <a:r>
              <a:t>• AI Engine: Dual-Rail Orchestrator (GPT-4o / Claude 3.5 / Local Mock) + Regex Sanitizer.</a:t>
            </a:r>
          </a:p>
        </p:txBody>
      </p:sp>
      <p:pic>
        <p:nvPicPr>
          <p:cNvPr descr="A black frame with a white background&#10;&#10;AI-generated content may be incorrect." id="158" name="Google Shape;158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16718" y="3438441"/>
            <a:ext cx="4988721" cy="2850521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4"/>
          <p:cNvSpPr txBox="1"/>
          <p:nvPr/>
        </p:nvSpPr>
        <p:spPr>
          <a:xfrm>
            <a:off x="607218" y="4393406"/>
            <a:ext cx="4595810" cy="21544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400"/>
              </a:spcAft>
              <a:buNone/>
              <a:defRPr sz="1050" b="0"/>
            </a:pPr>
            <a:r>
              <a:t>1. Ingestion: Parsers normalize Trivy, Semgrep, Nuclei, SARIF, and CSV into CanonicalFinding objects.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24101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rgbClr val="24101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18745" lvl="0" marL="347345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endParaRPr sz="3600">
              <a:solidFill>
                <a:srgbClr val="24101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>
              <a:spcAft>
                <a:spcPts val="400"/>
              </a:spcAft>
              <a:defRPr sz="1050" b="0"/>
            </a:pPr>
            <a:r>
              <a:t>2. Clustering: 3-tier dedup eliminates exact hash duplicates, generic CWEs, and correlates SAST routes with DAST endpoints.</a:t>
            </a:r>
          </a:p>
          <a:p>
            <a:pPr>
              <a:spcAft>
                <a:spcPts val="400"/>
              </a:spcAft>
              <a:defRPr sz="1050" b="0"/>
            </a:pPr>
            <a:r>
              <a:t>3. Sandbox Probes: Safe, read-only probes inspect target manifests, sockets, and endpoints.</a:t>
            </a:r>
          </a:p>
          <a:p>
            <a:pPr>
              <a:spcAft>
                <a:spcPts val="400"/>
              </a:spcAft>
              <a:defRPr sz="1050" b="0"/>
            </a:pPr>
            <a:r>
              <a:t>4. Deterministic Evaluation: Returns CONFIRMED, NOT_CONFIRMED, or INCONCLUSIVE.</a:t>
            </a:r>
          </a:p>
          <a:p>
            <a:pPr>
              <a:spcAft>
                <a:spcPts val="400"/>
              </a:spcAft>
              <a:defRPr sz="1050" b="0"/>
            </a:pPr>
            <a:r>
              <a:t>5. Dynamic Risk: Math formula computes P1–P4 score, AI explains, and analyst approves or overrides.</a:t>
            </a:r>
          </a:p>
        </p:txBody>
      </p:sp>
      <p:sp>
        <p:nvSpPr>
          <p:cNvPr id="160" name="Google Shape;160;p4"/>
          <p:cNvSpPr txBox="1"/>
          <p:nvPr/>
        </p:nvSpPr>
        <p:spPr>
          <a:xfrm>
            <a:off x="607219" y="3869530"/>
            <a:ext cx="4774406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7A1128"/>
                </a:solidFill>
                <a:latin typeface="Cambria"/>
                <a:ea typeface="Cambria"/>
                <a:cs typeface="Cambria"/>
                <a:sym typeface="Cambria"/>
              </a:rPr>
              <a:t>Working / Implementation Approach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4"/>
          <p:cNvSpPr txBox="1"/>
          <p:nvPr/>
        </p:nvSpPr>
        <p:spPr>
          <a:xfrm>
            <a:off x="666751" y="1428750"/>
            <a:ext cx="2928938" cy="7624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7A1128"/>
                </a:solidFill>
                <a:latin typeface="Cambria"/>
                <a:ea typeface="Cambria"/>
                <a:cs typeface="Cambria"/>
                <a:sym typeface="Cambria"/>
              </a:rPr>
              <a:t>Technology Stack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2" name="Google Shape;162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685435" y="1881186"/>
            <a:ext cx="5905101" cy="4202908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4"/>
          <p:cNvSpPr txBox="1"/>
          <p:nvPr/>
        </p:nvSpPr>
        <p:spPr>
          <a:xfrm>
            <a:off x="7310438" y="3607594"/>
            <a:ext cx="264318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400"/>
              </a:spcAft>
              <a:buNone/>
              <a:defRPr sz="1200" b="0"/>
            </a:pP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endParaRPr b="1" sz="1400">
              <a:solidFill>
                <a:srgbClr val="7A6A6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4" name="Picture 163" descr="cyberyukti_system_architectur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2985" y="2337327"/>
            <a:ext cx="5850000" cy="329062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20C08"/>
        </a:solidFill>
      </p:bgPr>
    </p:bg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5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C9993F"/>
          </a:solidFill>
          <a:ln cap="flat" cmpd="sng" w="9525">
            <a:solidFill>
              <a:srgbClr val="C9993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5"/>
          <p:cNvSpPr txBox="1"/>
          <p:nvPr/>
        </p:nvSpPr>
        <p:spPr>
          <a:xfrm>
            <a:off x="10067449" y="6348414"/>
            <a:ext cx="1680211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F5EBD2"/>
                </a:solidFill>
                <a:latin typeface="Arial"/>
                <a:ea typeface="Arial"/>
                <a:cs typeface="Arial"/>
                <a:sym typeface="Arial"/>
              </a:rPr>
              <a:t>MIT ACSC • ALANDI, PUNE</a:t>
            </a:r>
            <a:endParaRPr/>
          </a:p>
        </p:txBody>
      </p:sp>
      <p:sp>
        <p:nvSpPr>
          <p:cNvPr id="170" name="Google Shape;170;p5"/>
          <p:cNvSpPr/>
          <p:nvPr/>
        </p:nvSpPr>
        <p:spPr>
          <a:xfrm>
            <a:off x="411480" y="6336792"/>
            <a:ext cx="11338560" cy="9144"/>
          </a:xfrm>
          <a:prstGeom prst="rect">
            <a:avLst/>
          </a:prstGeom>
          <a:solidFill>
            <a:srgbClr val="8B5B24"/>
          </a:solidFill>
          <a:ln cap="flat" cmpd="sng" w="9525">
            <a:solidFill>
              <a:srgbClr val="8B5B2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5"/>
          <p:cNvSpPr/>
          <p:nvPr/>
        </p:nvSpPr>
        <p:spPr>
          <a:xfrm>
            <a:off x="19774376" y="0"/>
            <a:ext cx="4142232" cy="6858000"/>
          </a:xfrm>
          <a:prstGeom prst="rect">
            <a:avLst/>
          </a:prstGeom>
          <a:solidFill>
            <a:srgbClr val="21110C"/>
          </a:solidFill>
          <a:ln cap="flat" cmpd="sng" w="9525">
            <a:solidFill>
              <a:srgbClr val="21110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5"/>
          <p:cNvSpPr txBox="1"/>
          <p:nvPr/>
        </p:nvSpPr>
        <p:spPr>
          <a:xfrm>
            <a:off x="416719" y="-7286626"/>
            <a:ext cx="6369843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strike="noStrike">
                <a:solidFill>
                  <a:srgbClr val="F5EBD2"/>
                </a:solidFill>
                <a:latin typeface="Angsana New"/>
                <a:ea typeface="Angsana New"/>
                <a:cs typeface="Angsana New"/>
                <a:sym typeface="Angsana New"/>
              </a:rPr>
              <a:t>KURUKSHETRA 2.0</a:t>
            </a:r>
            <a:r>
              <a:rPr b="0" i="0" lang="en-US" sz="3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​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5"/>
          <p:cNvSpPr txBox="1"/>
          <p:nvPr/>
        </p:nvSpPr>
        <p:spPr>
          <a:xfrm>
            <a:off x="416718" y="-6834188"/>
            <a:ext cx="2583656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F5EBD2"/>
                </a:solidFill>
                <a:latin typeface="Angsana New"/>
                <a:ea typeface="Angsana New"/>
                <a:cs typeface="Angsana New"/>
                <a:sym typeface="Angsana New"/>
              </a:rPr>
              <a:t>HACKFEST 2026</a:t>
            </a:r>
            <a:endParaRPr sz="2800">
              <a:solidFill>
                <a:srgbClr val="000000"/>
              </a:solidFill>
              <a:latin typeface="Angsana New"/>
              <a:ea typeface="Angsana New"/>
              <a:cs typeface="Angsana New"/>
              <a:sym typeface="Angsana New"/>
            </a:endParaRPr>
          </a:p>
        </p:txBody>
      </p:sp>
      <p:sp>
        <p:nvSpPr>
          <p:cNvPr id="174" name="Google Shape;174;p5"/>
          <p:cNvSpPr txBox="1"/>
          <p:nvPr/>
        </p:nvSpPr>
        <p:spPr>
          <a:xfrm>
            <a:off x="19942969" y="345282"/>
            <a:ext cx="3810001" cy="9848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00">
                <a:solidFill>
                  <a:srgbClr val="F5EBD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TITLE PAGE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5" name="Google Shape;175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385349" y="118703"/>
            <a:ext cx="1712120" cy="1707357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5"/>
          <p:cNvSpPr txBox="1"/>
          <p:nvPr/>
        </p:nvSpPr>
        <p:spPr>
          <a:xfrm>
            <a:off x="285750" y="130969"/>
            <a:ext cx="1714500" cy="3812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400"/>
              </a:spcAft>
              <a:buNone/>
              <a:defRPr sz="1200" b="1"/>
            </a:pPr>
            <a:r>
              <a:t>Sudarshan_MITAOE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5"/>
          <p:cNvSpPr txBox="1"/>
          <p:nvPr/>
        </p:nvSpPr>
        <p:spPr>
          <a:xfrm>
            <a:off x="425856" y="6348415"/>
            <a:ext cx="239554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F5EBD2"/>
                </a:solidFill>
                <a:latin typeface="Arial"/>
                <a:ea typeface="Arial"/>
                <a:cs typeface="Arial"/>
                <a:sym typeface="Arial"/>
              </a:rPr>
              <a:t>05</a:t>
            </a:r>
            <a:endParaRPr sz="1800">
              <a:solidFill>
                <a:srgbClr val="101418"/>
              </a:solidFill>
              <a:highlight>
                <a:srgbClr val="FFFFFF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5"/>
          <p:cNvSpPr txBox="1"/>
          <p:nvPr/>
        </p:nvSpPr>
        <p:spPr>
          <a:xfrm>
            <a:off x="2907595" y="363044"/>
            <a:ext cx="6381750" cy="95410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F5EBD2"/>
                </a:solidFill>
                <a:latin typeface="Cambria"/>
                <a:ea typeface="Cambria"/>
                <a:cs typeface="Cambria"/>
                <a:sym typeface="Cambria"/>
              </a:rPr>
              <a:t>Feasibility, Viability &amp; Impact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9" name="Google Shape;179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16719" y="1054722"/>
            <a:ext cx="5003097" cy="2764479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5"/>
          <p:cNvSpPr txBox="1"/>
          <p:nvPr/>
        </p:nvSpPr>
        <p:spPr>
          <a:xfrm>
            <a:off x="654844" y="1881188"/>
            <a:ext cx="4590869" cy="16312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400"/>
              </a:spcAft>
              <a:buNone/>
              <a:defRPr sz="1100" b="0"/>
            </a:pPr>
            <a:r>
              <a:t>• Technical Feasibility: 100% operational; 90/90 automated tests pass across backend and frontend.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>
              <a:spcAft>
                <a:spcPts val="400"/>
              </a:spcAft>
              <a:defRPr sz="1100" b="0"/>
            </a:pPr>
            <a:r>
              <a:t>• Operational Viability: Runs containerized in Docker or lightweight CI/CD subprocess sandboxes.</a:t>
            </a:r>
          </a:p>
          <a:p>
            <a:pPr>
              <a:spcAft>
                <a:spcPts val="400"/>
              </a:spcAft>
              <a:defRPr sz="1100" b="0"/>
            </a:pPr>
            <a:r>
              <a:t>• Risk &amp; Mitigation: Read-only probes with hard 5.0s timeouts and target allowlists eliminate target crash risk. Dual-rail prompt sanitization blocks prompt-injection hijacking.</a:t>
            </a:r>
          </a:p>
        </p:txBody>
      </p:sp>
      <p:pic>
        <p:nvPicPr>
          <p:cNvPr descr="A black frame with a white background&#10;&#10;AI-generated content may be incorrect." id="181" name="Google Shape;181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420040" y="1037422"/>
            <a:ext cx="5060607" cy="2793011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5"/>
          <p:cNvSpPr txBox="1"/>
          <p:nvPr/>
        </p:nvSpPr>
        <p:spPr>
          <a:xfrm>
            <a:off x="5653671" y="1877368"/>
            <a:ext cx="4595810" cy="21544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400"/>
              </a:spcAft>
              <a:buNone/>
              <a:defRPr sz="1100" b="0"/>
            </a:pPr>
            <a:r>
              <a:t>• 90.5% Noise Cut: 42 raw scanner alerts collapse into 4 actionable incident clusters.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24101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rgbClr val="24101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18745" lvl="0" marL="347345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endParaRPr sz="3600">
              <a:solidFill>
                <a:srgbClr val="24101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>
              <a:spcAft>
                <a:spcPts val="400"/>
              </a:spcAft>
              <a:defRPr sz="1100" b="0"/>
            </a:pPr>
            <a:r>
              <a:t>• 31.5 Hours Saved: Saves ~25m per duplicate and ~45m per auto-probed patch ($3,150+ saved/cycle).</a:t>
            </a:r>
          </a:p>
          <a:p>
            <a:pPr>
              <a:spcAft>
                <a:spcPts val="400"/>
              </a:spcAft>
              <a:defRPr sz="1100" b="0"/>
            </a:pPr>
            <a:r>
              <a:t>• Instant MTTR: Triage turnaround drops from days to seconds.</a:t>
            </a:r>
          </a:p>
          <a:p>
            <a:pPr>
              <a:spcAft>
                <a:spcPts val="400"/>
              </a:spcAft>
              <a:defRPr sz="1100" b="0"/>
            </a:pPr>
            <a:r>
              <a:t>• Audit Ready: SHA-256 hash-chained ledger provides compliance non-repudiation.</a:t>
            </a:r>
          </a:p>
        </p:txBody>
      </p:sp>
      <p:sp>
        <p:nvSpPr>
          <p:cNvPr id="183" name="Google Shape;183;p5"/>
          <p:cNvSpPr txBox="1"/>
          <p:nvPr/>
        </p:nvSpPr>
        <p:spPr>
          <a:xfrm>
            <a:off x="5610540" y="1425379"/>
            <a:ext cx="4774406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7A1128"/>
                </a:solidFill>
                <a:latin typeface="Cambria"/>
                <a:ea typeface="Cambria"/>
                <a:cs typeface="Cambria"/>
                <a:sym typeface="Cambria"/>
              </a:rPr>
              <a:t>Impact &amp; Benefits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5"/>
          <p:cNvSpPr txBox="1"/>
          <p:nvPr/>
        </p:nvSpPr>
        <p:spPr>
          <a:xfrm>
            <a:off x="666751" y="1428750"/>
            <a:ext cx="2928938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7A1128"/>
                </a:solidFill>
                <a:latin typeface="Cambria"/>
                <a:ea typeface="Cambria"/>
                <a:cs typeface="Cambria"/>
                <a:sym typeface="Cambria"/>
              </a:rPr>
              <a:t>Feasibility &amp; Viability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 black frame with a white background&#10;&#10;AI-generated content may be incorrect." id="185" name="Google Shape;185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02342" y="3674546"/>
            <a:ext cx="11346208" cy="2376293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5"/>
          <p:cNvSpPr txBox="1"/>
          <p:nvPr/>
        </p:nvSpPr>
        <p:spPr>
          <a:xfrm>
            <a:off x="690113" y="4018472"/>
            <a:ext cx="6096000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7A1128"/>
                </a:solidFill>
                <a:latin typeface="Cambria"/>
                <a:ea typeface="Cambria"/>
                <a:cs typeface="Cambria"/>
                <a:sym typeface="Cambria"/>
              </a:rPr>
              <a:t>AI/ML Details (if applicable)</a:t>
            </a:r>
            <a:endParaRPr/>
          </a:p>
        </p:txBody>
      </p:sp>
      <p:sp>
        <p:nvSpPr>
          <p:cNvPr id="187" name="Google Shape;187;p5"/>
          <p:cNvSpPr txBox="1"/>
          <p:nvPr/>
        </p:nvSpPr>
        <p:spPr>
          <a:xfrm>
            <a:off x="646981" y="4406660"/>
            <a:ext cx="6096000" cy="9848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7345" lvl="0" marL="347345" marR="0" rtl="0" algn="l">
              <a:spcBef>
                <a:spcPts val="0"/>
              </a:spcBef>
              <a:spcAft>
                <a:spcPts val="400"/>
              </a:spcAft>
              <a:buClr>
                <a:srgbClr val="241014"/>
              </a:buClr>
              <a:buSzPts val="2000"/>
              <a:buFont typeface="Arial"/>
              <a:buChar char="–"/>
              <a:defRPr sz="1100" b="0"/>
            </a:pPr>
            <a:r>
              <a:t>• Architecture: Dual-Rail Guarded Pipeline (GPT-4o / Claude 3.5 / Local Mock Provider).</a:t>
            </a:r>
            <a:endParaRPr/>
          </a:p>
          <a:p>
            <a:pPr indent="-347345" lvl="0" marL="347345" marR="0" rtl="0" algn="l">
              <a:spcBef>
                <a:spcPts val="0"/>
              </a:spcBef>
              <a:spcAft>
                <a:spcPts val="0"/>
              </a:spcAft>
              <a:buClr>
                <a:srgbClr val="241014"/>
              </a:buClr>
              <a:buSzPts val="2000"/>
              <a:buFont typeface="Arial"/>
              <a:buChar char="–"/>
            </a:pP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>
              <a:spcAft>
                <a:spcPts val="400"/>
              </a:spcAft>
              <a:defRPr sz="1100" b="0"/>
            </a:pPr>
            <a:r>
              <a:t>• Prompt Defense: 24-field sanitizer quarantines untrusted text in &lt;UNTRUSTED&gt; delimiters.</a:t>
            </a:r>
          </a:p>
          <a:p>
            <a:pPr>
              <a:spcAft>
                <a:spcPts val="400"/>
              </a:spcAft>
              <a:defRPr sz="1100" b="0"/>
            </a:pPr>
            <a:r>
              <a:t>• Grounding Validator: Enforces strict JSON schema and verifies that all CVEs and CVSS numbers in the output exist in the input (16/16 adversarial injection tests passed).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20C08"/>
        </a:solidFill>
      </p:bgPr>
    </p:bg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6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C9993F"/>
          </a:solidFill>
          <a:ln cap="flat" cmpd="sng" w="9525">
            <a:solidFill>
              <a:srgbClr val="C9993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6"/>
          <p:cNvSpPr txBox="1"/>
          <p:nvPr/>
        </p:nvSpPr>
        <p:spPr>
          <a:xfrm>
            <a:off x="10067449" y="6348414"/>
            <a:ext cx="1680211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F5EBD2"/>
                </a:solidFill>
                <a:latin typeface="Arial"/>
                <a:ea typeface="Arial"/>
                <a:cs typeface="Arial"/>
                <a:sym typeface="Arial"/>
              </a:rPr>
              <a:t>MIT ACSC • ALANDI, PUNE</a:t>
            </a:r>
            <a:endParaRPr/>
          </a:p>
        </p:txBody>
      </p:sp>
      <p:sp>
        <p:nvSpPr>
          <p:cNvPr id="194" name="Google Shape;194;p6"/>
          <p:cNvSpPr/>
          <p:nvPr/>
        </p:nvSpPr>
        <p:spPr>
          <a:xfrm>
            <a:off x="411480" y="6336792"/>
            <a:ext cx="11338560" cy="9144"/>
          </a:xfrm>
          <a:prstGeom prst="rect">
            <a:avLst/>
          </a:prstGeom>
          <a:solidFill>
            <a:srgbClr val="8B5B24"/>
          </a:solidFill>
          <a:ln cap="flat" cmpd="sng" w="9525">
            <a:solidFill>
              <a:srgbClr val="8B5B2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6"/>
          <p:cNvSpPr/>
          <p:nvPr/>
        </p:nvSpPr>
        <p:spPr>
          <a:xfrm>
            <a:off x="19774376" y="0"/>
            <a:ext cx="4142232" cy="6858000"/>
          </a:xfrm>
          <a:prstGeom prst="rect">
            <a:avLst/>
          </a:prstGeom>
          <a:solidFill>
            <a:srgbClr val="21110C"/>
          </a:solidFill>
          <a:ln cap="flat" cmpd="sng" w="9525">
            <a:solidFill>
              <a:srgbClr val="21110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6"/>
          <p:cNvSpPr txBox="1"/>
          <p:nvPr/>
        </p:nvSpPr>
        <p:spPr>
          <a:xfrm>
            <a:off x="416719" y="-7286626"/>
            <a:ext cx="6369843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strike="noStrike">
                <a:solidFill>
                  <a:srgbClr val="F5EBD2"/>
                </a:solidFill>
                <a:latin typeface="Angsana New"/>
                <a:ea typeface="Angsana New"/>
                <a:cs typeface="Angsana New"/>
                <a:sym typeface="Angsana New"/>
              </a:rPr>
              <a:t>KURUKSHETRA 2.0</a:t>
            </a:r>
            <a:r>
              <a:rPr b="0" i="0" lang="en-US" sz="3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​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6"/>
          <p:cNvSpPr txBox="1"/>
          <p:nvPr/>
        </p:nvSpPr>
        <p:spPr>
          <a:xfrm>
            <a:off x="416718" y="-6834188"/>
            <a:ext cx="2583656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F5EBD2"/>
                </a:solidFill>
                <a:latin typeface="Angsana New"/>
                <a:ea typeface="Angsana New"/>
                <a:cs typeface="Angsana New"/>
                <a:sym typeface="Angsana New"/>
              </a:rPr>
              <a:t>HACKFEST 2026</a:t>
            </a:r>
            <a:endParaRPr sz="2800">
              <a:solidFill>
                <a:srgbClr val="000000"/>
              </a:solidFill>
              <a:latin typeface="Angsana New"/>
              <a:ea typeface="Angsana New"/>
              <a:cs typeface="Angsana New"/>
              <a:sym typeface="Angsana New"/>
            </a:endParaRPr>
          </a:p>
        </p:txBody>
      </p:sp>
      <p:sp>
        <p:nvSpPr>
          <p:cNvPr id="198" name="Google Shape;198;p6"/>
          <p:cNvSpPr txBox="1"/>
          <p:nvPr/>
        </p:nvSpPr>
        <p:spPr>
          <a:xfrm>
            <a:off x="19942969" y="345282"/>
            <a:ext cx="3810001" cy="9848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00">
                <a:solidFill>
                  <a:srgbClr val="F5EBD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TITLE PAGE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9" name="Google Shape;199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385349" y="118703"/>
            <a:ext cx="1712120" cy="1707357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6"/>
          <p:cNvSpPr txBox="1"/>
          <p:nvPr/>
        </p:nvSpPr>
        <p:spPr>
          <a:xfrm>
            <a:off x="285750" y="130969"/>
            <a:ext cx="1714500" cy="3812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400"/>
              </a:spcAft>
              <a:buNone/>
              <a:defRPr sz="1200" b="1"/>
            </a:pPr>
            <a:r>
              <a:t>Sudarshan_MITAOE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6"/>
          <p:cNvSpPr txBox="1"/>
          <p:nvPr/>
        </p:nvSpPr>
        <p:spPr>
          <a:xfrm>
            <a:off x="411479" y="6348415"/>
            <a:ext cx="239554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F5EBD2"/>
                </a:solidFill>
                <a:latin typeface="Arial"/>
                <a:ea typeface="Arial"/>
                <a:cs typeface="Arial"/>
                <a:sym typeface="Arial"/>
              </a:rPr>
              <a:t>06</a:t>
            </a:r>
            <a:endParaRPr/>
          </a:p>
        </p:txBody>
      </p:sp>
      <p:sp>
        <p:nvSpPr>
          <p:cNvPr id="202" name="Google Shape;202;p6"/>
          <p:cNvSpPr txBox="1"/>
          <p:nvPr/>
        </p:nvSpPr>
        <p:spPr>
          <a:xfrm>
            <a:off x="2907595" y="363044"/>
            <a:ext cx="6381750" cy="95410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F5EBD2"/>
                </a:solidFill>
                <a:latin typeface="Cambria"/>
                <a:ea typeface="Cambria"/>
                <a:cs typeface="Cambria"/>
                <a:sym typeface="Cambria"/>
              </a:rPr>
              <a:t>Research &amp; References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3" name="Google Shape;203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16719" y="997213"/>
            <a:ext cx="10121436" cy="2821988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6"/>
          <p:cNvSpPr txBox="1"/>
          <p:nvPr/>
        </p:nvSpPr>
        <p:spPr>
          <a:xfrm>
            <a:off x="654844" y="1881188"/>
            <a:ext cx="4590869" cy="13234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7345" lvl="0" marL="347345" marR="0" rtl="0" algn="l">
              <a:spcBef>
                <a:spcPts val="0"/>
              </a:spcBef>
              <a:spcAft>
                <a:spcPts val="400"/>
              </a:spcAft>
              <a:buClr>
                <a:srgbClr val="241014"/>
              </a:buClr>
              <a:buSzPts val="2000"/>
              <a:buFont typeface="Arial"/>
              <a:buChar char="–"/>
              <a:defRPr sz="1150" b="0"/>
            </a:pPr>
            <a:r>
              <a:t>• Standards: NIST SP 800-115 (Information Security Testing), OWASP Top 10 for LLMs (2025), FIRST EPSS v3, CISA KEV.</a:t>
            </a:r>
            <a:endParaRPr/>
          </a:p>
          <a:p>
            <a:pPr indent="-347345" lvl="0" marL="347345" marR="0" rtl="0" algn="l">
              <a:spcBef>
                <a:spcPts val="0"/>
              </a:spcBef>
              <a:spcAft>
                <a:spcPts val="0"/>
              </a:spcAft>
              <a:buClr>
                <a:srgbClr val="241014"/>
              </a:buClr>
              <a:buSzPts val="2000"/>
              <a:buFont typeface="Arial"/>
              <a:buChar char="–"/>
            </a:pP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>
              <a:spcAft>
                <a:spcPts val="400"/>
              </a:spcAft>
              <a:defRPr sz="1150" b="0"/>
            </a:pPr>
            <a:r>
              <a:t>• Academic Papers &amp; Frameworks: First.org EPSS probability modeling, GitLab multi-scanner deduplication heuristics.</a:t>
            </a:r>
          </a:p>
        </p:txBody>
      </p:sp>
      <p:pic>
        <p:nvPicPr>
          <p:cNvPr descr="A black frame with a white background&#10;&#10;AI-generated content may be incorrect." id="205" name="Google Shape;205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16720" y="3596591"/>
            <a:ext cx="5664455" cy="2764257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6"/>
          <p:cNvSpPr txBox="1"/>
          <p:nvPr/>
        </p:nvSpPr>
        <p:spPr>
          <a:xfrm>
            <a:off x="679105" y="4594689"/>
            <a:ext cx="4595810" cy="206210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400"/>
              </a:spcAft>
              <a:buNone/>
              <a:defRPr sz="1100" b="0"/>
            </a:pPr>
            <a:r>
              <a:t>• FIRST EPSS Framework: https://www.first.org/epss/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endParaRPr sz="3600">
              <a:solidFill>
                <a:srgbClr val="24101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24101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rgbClr val="24101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18745" lvl="0" marL="347345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endParaRPr sz="3600">
              <a:solidFill>
                <a:srgbClr val="24101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>
              <a:spcAft>
                <a:spcPts val="400"/>
              </a:spcAft>
              <a:defRPr sz="1100" b="0"/>
            </a:pPr>
            <a:r>
              <a:t>• CISA KEV Catalog: https://www.cisa.gov/known-exploited-vulnerabilities-catalog</a:t>
            </a:r>
          </a:p>
          <a:p>
            <a:pPr>
              <a:spcAft>
                <a:spcPts val="400"/>
              </a:spcAft>
              <a:defRPr sz="1100" b="0"/>
            </a:pPr>
            <a:r>
              <a:t>• National Vulnerability Database (NVD): https://nvd.nist.gov/</a:t>
            </a:r>
          </a:p>
          <a:p>
            <a:pPr>
              <a:spcAft>
                <a:spcPts val="400"/>
              </a:spcAft>
              <a:defRPr sz="1100" b="0"/>
            </a:pPr>
            <a:r>
              <a:t>• OWASP LLM Top 10: https://owasp.org/www-project-top-10-for-large-language-model-applications/</a:t>
            </a:r>
          </a:p>
        </p:txBody>
      </p:sp>
      <p:sp>
        <p:nvSpPr>
          <p:cNvPr id="207" name="Google Shape;207;p6"/>
          <p:cNvSpPr txBox="1"/>
          <p:nvPr/>
        </p:nvSpPr>
        <p:spPr>
          <a:xfrm>
            <a:off x="707861" y="4128323"/>
            <a:ext cx="4774406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7A1128"/>
                </a:solidFill>
                <a:latin typeface="Cambria"/>
                <a:ea typeface="Cambria"/>
                <a:cs typeface="Cambria"/>
                <a:sym typeface="Cambria"/>
              </a:rPr>
              <a:t>References / Sources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6"/>
          <p:cNvSpPr txBox="1"/>
          <p:nvPr/>
        </p:nvSpPr>
        <p:spPr>
          <a:xfrm>
            <a:off x="666751" y="1428750"/>
            <a:ext cx="2928938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7A1128"/>
                </a:solidFill>
                <a:latin typeface="Cambria"/>
                <a:ea typeface="Cambria"/>
                <a:cs typeface="Cambria"/>
                <a:sym typeface="Cambria"/>
              </a:rPr>
              <a:t>Research Conducted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 black frame with a white background&#10;&#10;AI-generated content may be incorrect." id="209" name="Google Shape;209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81400" y="3596591"/>
            <a:ext cx="5678831" cy="2764257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6"/>
          <p:cNvSpPr txBox="1"/>
          <p:nvPr/>
        </p:nvSpPr>
        <p:spPr>
          <a:xfrm>
            <a:off x="6516312" y="4594689"/>
            <a:ext cx="4293885" cy="20928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400"/>
              </a:spcAft>
              <a:buNone/>
              <a:defRPr sz="1300" b="1"/>
            </a:pPr>
            <a:r>
              <a:t>Team's public GitHub repository URL:</a:t>
            </a:r>
            <a:endParaRPr sz="2000">
              <a:solidFill>
                <a:srgbClr val="24101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endParaRPr sz="3600">
              <a:solidFill>
                <a:srgbClr val="24101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24101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rgbClr val="24101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18745" lvl="0" marL="347345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endParaRPr sz="3600">
              <a:solidFill>
                <a:srgbClr val="24101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>
              <a:spcAft>
                <a:spcPts val="400"/>
              </a:spcAft>
              <a:defRPr sz="1300" b="1"/>
            </a:pPr>
            <a:r>
              <a:t>https://github.com/Sahas2711/CyberYukti</a:t>
            </a:r>
          </a:p>
          <a:p>
            <a:pPr>
              <a:spcAft>
                <a:spcPts val="400"/>
              </a:spcAft>
              <a:defRPr sz="1300" b="1"/>
            </a:pPr>
            <a:r>
              <a:t>(Active Implementation Branch: person-2-evidence-engine)</a:t>
            </a:r>
          </a:p>
        </p:txBody>
      </p:sp>
      <p:sp>
        <p:nvSpPr>
          <p:cNvPr id="211" name="Google Shape;211;p6"/>
          <p:cNvSpPr txBox="1"/>
          <p:nvPr/>
        </p:nvSpPr>
        <p:spPr>
          <a:xfrm>
            <a:off x="6516313" y="4128322"/>
            <a:ext cx="4774406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7A1128"/>
                </a:solidFill>
                <a:latin typeface="Cambria"/>
                <a:ea typeface="Cambria"/>
                <a:cs typeface="Cambria"/>
                <a:sym typeface="Cambria"/>
              </a:rPr>
              <a:t>GitHub Repository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20C08"/>
        </a:solidFill>
      </p:bgPr>
    </p:bg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7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C9993F"/>
          </a:solidFill>
          <a:ln cap="flat" cmpd="sng" w="9525">
            <a:solidFill>
              <a:srgbClr val="C9993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7"/>
          <p:cNvSpPr txBox="1"/>
          <p:nvPr/>
        </p:nvSpPr>
        <p:spPr>
          <a:xfrm>
            <a:off x="10067449" y="6348414"/>
            <a:ext cx="1680211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F5EBD2"/>
                </a:solidFill>
                <a:latin typeface="Arial"/>
                <a:ea typeface="Arial"/>
                <a:cs typeface="Arial"/>
                <a:sym typeface="Arial"/>
              </a:rPr>
              <a:t>MIT ACSC • ALANDI, PUNE</a:t>
            </a:r>
            <a:endParaRPr/>
          </a:p>
        </p:txBody>
      </p:sp>
      <p:sp>
        <p:nvSpPr>
          <p:cNvPr id="218" name="Google Shape;218;p7"/>
          <p:cNvSpPr/>
          <p:nvPr/>
        </p:nvSpPr>
        <p:spPr>
          <a:xfrm>
            <a:off x="411480" y="6336792"/>
            <a:ext cx="11338560" cy="9144"/>
          </a:xfrm>
          <a:prstGeom prst="rect">
            <a:avLst/>
          </a:prstGeom>
          <a:solidFill>
            <a:srgbClr val="8B5B24"/>
          </a:solidFill>
          <a:ln cap="flat" cmpd="sng" w="9525">
            <a:solidFill>
              <a:srgbClr val="8B5B2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7"/>
          <p:cNvSpPr/>
          <p:nvPr/>
        </p:nvSpPr>
        <p:spPr>
          <a:xfrm>
            <a:off x="19774376" y="0"/>
            <a:ext cx="4142232" cy="6858000"/>
          </a:xfrm>
          <a:prstGeom prst="rect">
            <a:avLst/>
          </a:prstGeom>
          <a:solidFill>
            <a:srgbClr val="21110C"/>
          </a:solidFill>
          <a:ln cap="flat" cmpd="sng" w="9525">
            <a:solidFill>
              <a:srgbClr val="21110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7"/>
          <p:cNvSpPr txBox="1"/>
          <p:nvPr/>
        </p:nvSpPr>
        <p:spPr>
          <a:xfrm>
            <a:off x="416719" y="-7286626"/>
            <a:ext cx="6369843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strike="noStrike">
                <a:solidFill>
                  <a:srgbClr val="F5EBD2"/>
                </a:solidFill>
                <a:latin typeface="Angsana New"/>
                <a:ea typeface="Angsana New"/>
                <a:cs typeface="Angsana New"/>
                <a:sym typeface="Angsana New"/>
              </a:rPr>
              <a:t>KURUKSHETRA 2.0</a:t>
            </a:r>
            <a:r>
              <a:rPr b="0" i="0" lang="en-US" sz="3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​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7"/>
          <p:cNvSpPr txBox="1"/>
          <p:nvPr/>
        </p:nvSpPr>
        <p:spPr>
          <a:xfrm>
            <a:off x="416718" y="-6834188"/>
            <a:ext cx="2583656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F5EBD2"/>
                </a:solidFill>
                <a:latin typeface="Angsana New"/>
                <a:ea typeface="Angsana New"/>
                <a:cs typeface="Angsana New"/>
                <a:sym typeface="Angsana New"/>
              </a:rPr>
              <a:t>HACKFEST 2026</a:t>
            </a:r>
            <a:endParaRPr sz="2800">
              <a:solidFill>
                <a:srgbClr val="000000"/>
              </a:solidFill>
              <a:latin typeface="Angsana New"/>
              <a:ea typeface="Angsana New"/>
              <a:cs typeface="Angsana New"/>
              <a:sym typeface="Angsana New"/>
            </a:endParaRPr>
          </a:p>
        </p:txBody>
      </p:sp>
      <p:sp>
        <p:nvSpPr>
          <p:cNvPr id="222" name="Google Shape;222;p7"/>
          <p:cNvSpPr txBox="1"/>
          <p:nvPr/>
        </p:nvSpPr>
        <p:spPr>
          <a:xfrm>
            <a:off x="19942969" y="345282"/>
            <a:ext cx="3810001" cy="9848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00">
                <a:solidFill>
                  <a:srgbClr val="F5EBD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TITLE PAGE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3" name="Google Shape;223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385349" y="118703"/>
            <a:ext cx="1712120" cy="1707357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7"/>
          <p:cNvSpPr txBox="1"/>
          <p:nvPr/>
        </p:nvSpPr>
        <p:spPr>
          <a:xfrm>
            <a:off x="285750" y="130969"/>
            <a:ext cx="1714500" cy="3812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400"/>
              </a:spcAft>
              <a:buNone/>
              <a:defRPr sz="1200" b="1"/>
            </a:pPr>
            <a:r>
              <a:t>Sudarshan_MITAOE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7"/>
          <p:cNvSpPr txBox="1"/>
          <p:nvPr/>
        </p:nvSpPr>
        <p:spPr>
          <a:xfrm>
            <a:off x="411479" y="6348415"/>
            <a:ext cx="239554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F5EBD2"/>
                </a:solidFill>
                <a:latin typeface="Arial"/>
                <a:ea typeface="Arial"/>
                <a:cs typeface="Arial"/>
                <a:sym typeface="Arial"/>
              </a:rPr>
              <a:t>07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7"/>
          <p:cNvSpPr txBox="1"/>
          <p:nvPr/>
        </p:nvSpPr>
        <p:spPr>
          <a:xfrm>
            <a:off x="2907595" y="363044"/>
            <a:ext cx="6381750" cy="95410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F5EBD2"/>
                </a:solidFill>
                <a:latin typeface="Cambria"/>
                <a:ea typeface="Cambria"/>
                <a:cs typeface="Cambria"/>
                <a:sym typeface="Cambria"/>
              </a:rPr>
              <a:t>Build With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27" name="Google Shape;227;p7"/>
          <p:cNvGrpSpPr/>
          <p:nvPr/>
        </p:nvGrpSpPr>
        <p:grpSpPr>
          <a:xfrm>
            <a:off x="535775" y="1122612"/>
            <a:ext cx="5345731" cy="1363035"/>
            <a:chOff x="416719" y="973401"/>
            <a:chExt cx="4829025" cy="1155114"/>
          </a:xfrm>
        </p:grpSpPr>
        <p:pic>
          <p:nvPicPr>
            <p:cNvPr id="228" name="Google Shape;228;p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416719" y="973401"/>
              <a:ext cx="4454061" cy="115511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29" name="Google Shape;229;p7"/>
            <p:cNvSpPr txBox="1"/>
            <p:nvPr/>
          </p:nvSpPr>
          <p:spPr>
            <a:xfrm>
              <a:off x="654844" y="1547813"/>
              <a:ext cx="4590900" cy="286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-347345" lvl="0" marL="347345" marR="0" rtl="0" algn="l">
                <a:spcBef>
                  <a:spcPts val="0"/>
                </a:spcBef>
                <a:spcAft>
                  <a:spcPts val="0"/>
                </a:spcAft>
                <a:buClr>
                  <a:srgbClr val="0C0C0C"/>
                </a:buClr>
                <a:buSzPts val="1600"/>
                <a:buFont typeface="Arial"/>
                <a:buChar char="•"/>
              </a:pPr>
              <a:r>
                <a:rPr lang="en-US" sz="1600">
                  <a:solidFill>
                    <a:srgbClr val="0C0C0C"/>
                  </a:solidFill>
                  <a:latin typeface="Arial"/>
                  <a:ea typeface="Arial"/>
                  <a:cs typeface="Arial"/>
                  <a:sym typeface="Arial"/>
                </a:rPr>
                <a:t>React / React Native / HTML / CSS / etc.</a:t>
              </a:r>
              <a:endParaRPr sz="1600">
                <a:solidFill>
                  <a:srgbClr val="0C0C0C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0" name="Google Shape;230;p7"/>
            <p:cNvSpPr txBox="1"/>
            <p:nvPr/>
          </p:nvSpPr>
          <p:spPr>
            <a:xfrm>
              <a:off x="654845" y="1131094"/>
              <a:ext cx="2928900" cy="339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000">
                  <a:solidFill>
                    <a:srgbClr val="7A1128"/>
                  </a:solidFill>
                  <a:latin typeface="Cambria"/>
                  <a:ea typeface="Cambria"/>
                  <a:cs typeface="Cambria"/>
                  <a:sym typeface="Cambria"/>
                </a:rPr>
                <a:t>Frontend</a:t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31" name="Google Shape;231;p7"/>
          <p:cNvGrpSpPr/>
          <p:nvPr/>
        </p:nvGrpSpPr>
        <p:grpSpPr>
          <a:xfrm>
            <a:off x="535801" y="2782146"/>
            <a:ext cx="5345731" cy="1363035"/>
            <a:chOff x="440531" y="2223556"/>
            <a:chExt cx="4829025" cy="1155114"/>
          </a:xfrm>
        </p:grpSpPr>
        <p:pic>
          <p:nvPicPr>
            <p:cNvPr descr="A black frame with a white background&#10;&#10;AI-generated content may be incorrect." id="232" name="Google Shape;232;p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440531" y="2223556"/>
              <a:ext cx="4454062" cy="115511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33" name="Google Shape;233;p7"/>
            <p:cNvSpPr txBox="1"/>
            <p:nvPr/>
          </p:nvSpPr>
          <p:spPr>
            <a:xfrm>
              <a:off x="678656" y="2797968"/>
              <a:ext cx="4590900" cy="286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-347345" lvl="0" marL="347345" marR="0" rtl="0" algn="l">
                <a:spcBef>
                  <a:spcPts val="0"/>
                </a:spcBef>
                <a:spcAft>
                  <a:spcPts val="0"/>
                </a:spcAft>
                <a:buClr>
                  <a:srgbClr val="21110C"/>
                </a:buClr>
                <a:buSzPts val="1600"/>
                <a:buFont typeface="Arial"/>
                <a:buChar char="•"/>
              </a:pPr>
              <a:r>
                <a:rPr lang="en-US" sz="1600">
                  <a:solidFill>
                    <a:srgbClr val="21110C"/>
                  </a:solidFill>
                  <a:latin typeface="Arial"/>
                  <a:ea typeface="Arial"/>
                  <a:cs typeface="Arial"/>
                  <a:sym typeface="Arial"/>
                </a:rPr>
                <a:t>Supabase / Firebase / MongoDB / etc.</a:t>
              </a:r>
              <a:endParaRPr sz="2400">
                <a:solidFill>
                  <a:srgbClr val="21110C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4" name="Google Shape;234;p7"/>
            <p:cNvSpPr txBox="1"/>
            <p:nvPr/>
          </p:nvSpPr>
          <p:spPr>
            <a:xfrm>
              <a:off x="678656" y="2381249"/>
              <a:ext cx="2928900" cy="339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000">
                  <a:solidFill>
                    <a:srgbClr val="7A1128"/>
                  </a:solidFill>
                  <a:latin typeface="Cambria"/>
                  <a:ea typeface="Cambria"/>
                  <a:cs typeface="Cambria"/>
                  <a:sym typeface="Cambria"/>
                </a:rPr>
                <a:t>Database</a:t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35" name="Google Shape;235;p7"/>
          <p:cNvGrpSpPr/>
          <p:nvPr/>
        </p:nvGrpSpPr>
        <p:grpSpPr>
          <a:xfrm>
            <a:off x="535775" y="4432502"/>
            <a:ext cx="5345731" cy="1363035"/>
            <a:chOff x="440531" y="3545150"/>
            <a:chExt cx="4829025" cy="1155114"/>
          </a:xfrm>
        </p:grpSpPr>
        <p:pic>
          <p:nvPicPr>
            <p:cNvPr descr="A black frame with a white background&#10;&#10;AI-generated content may be incorrect." id="236" name="Google Shape;236;p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440531" y="3545150"/>
              <a:ext cx="4454062" cy="115511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37" name="Google Shape;237;p7"/>
            <p:cNvSpPr txBox="1"/>
            <p:nvPr/>
          </p:nvSpPr>
          <p:spPr>
            <a:xfrm>
              <a:off x="678656" y="4056275"/>
              <a:ext cx="4590900" cy="495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-347345" lvl="0" marL="347345" marR="0" rtl="0" algn="l">
                <a:spcBef>
                  <a:spcPts val="0"/>
                </a:spcBef>
                <a:spcAft>
                  <a:spcPts val="0"/>
                </a:spcAft>
                <a:buClr>
                  <a:srgbClr val="0C0C0C"/>
                </a:buClr>
                <a:buSzPts val="1600"/>
                <a:buFont typeface="Arial"/>
                <a:buChar char="•"/>
              </a:pPr>
              <a:r>
                <a:rPr lang="en-US" sz="1600">
                  <a:solidFill>
                    <a:srgbClr val="0C0C0C"/>
                  </a:solidFill>
                </a:rPr>
                <a:t>Docker &amp; Docker Compose, Pytest (77 tests), Vitest (13 tests), HTTPX.</a:t>
              </a:r>
              <a:endParaRPr sz="1600">
                <a:solidFill>
                  <a:srgbClr val="0C0C0C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8" name="Google Shape;238;p7"/>
            <p:cNvSpPr txBox="1"/>
            <p:nvPr/>
          </p:nvSpPr>
          <p:spPr>
            <a:xfrm>
              <a:off x="678656" y="3660652"/>
              <a:ext cx="2928900" cy="339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000">
                  <a:solidFill>
                    <a:srgbClr val="7A1128"/>
                  </a:solidFill>
                  <a:latin typeface="Cambria"/>
                  <a:ea typeface="Cambria"/>
                  <a:cs typeface="Cambria"/>
                  <a:sym typeface="Cambria"/>
                </a:rPr>
                <a:t>Tools &amp; Services</a:t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39" name="Google Shape;239;p7"/>
          <p:cNvGrpSpPr/>
          <p:nvPr/>
        </p:nvGrpSpPr>
        <p:grpSpPr>
          <a:xfrm>
            <a:off x="5881676" y="1121608"/>
            <a:ext cx="5345731" cy="1363035"/>
            <a:chOff x="416719" y="973401"/>
            <a:chExt cx="4829025" cy="1155114"/>
          </a:xfrm>
        </p:grpSpPr>
        <p:pic>
          <p:nvPicPr>
            <p:cNvPr id="240" name="Google Shape;240;p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416719" y="973401"/>
              <a:ext cx="4454061" cy="115511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1" name="Google Shape;241;p7"/>
            <p:cNvSpPr txBox="1"/>
            <p:nvPr/>
          </p:nvSpPr>
          <p:spPr>
            <a:xfrm>
              <a:off x="654844" y="1547813"/>
              <a:ext cx="4590900" cy="286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-347345" lvl="0" marL="347345" marR="0" rtl="0" algn="l">
                <a:spcBef>
                  <a:spcPts val="0"/>
                </a:spcBef>
                <a:spcAft>
                  <a:spcPts val="0"/>
                </a:spcAft>
                <a:buClr>
                  <a:srgbClr val="0C0C0C"/>
                </a:buClr>
                <a:buSzPts val="1600"/>
                <a:buFont typeface="Arial"/>
                <a:buChar char="•"/>
              </a:pPr>
              <a:r>
                <a:rPr lang="en-US" sz="1600">
                  <a:solidFill>
                    <a:srgbClr val="0C0C0C"/>
                  </a:solidFill>
                  <a:latin typeface="Arial"/>
                  <a:ea typeface="Arial"/>
                  <a:cs typeface="Arial"/>
                  <a:sym typeface="Arial"/>
                </a:rPr>
                <a:t>Node.js /  Python / etc.</a:t>
              </a:r>
              <a:endParaRPr sz="1600">
                <a:solidFill>
                  <a:srgbClr val="0C0C0C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2" name="Google Shape;242;p7"/>
            <p:cNvSpPr txBox="1"/>
            <p:nvPr/>
          </p:nvSpPr>
          <p:spPr>
            <a:xfrm>
              <a:off x="654845" y="1131094"/>
              <a:ext cx="2928900" cy="339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000">
                  <a:solidFill>
                    <a:srgbClr val="7A1128"/>
                  </a:solidFill>
                  <a:latin typeface="Cambria"/>
                  <a:ea typeface="Cambria"/>
                  <a:cs typeface="Cambria"/>
                  <a:sym typeface="Cambria"/>
                </a:rPr>
                <a:t>Backend</a:t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43" name="Google Shape;243;p7"/>
          <p:cNvGrpSpPr/>
          <p:nvPr/>
        </p:nvGrpSpPr>
        <p:grpSpPr>
          <a:xfrm>
            <a:off x="5881674" y="2801450"/>
            <a:ext cx="5345710" cy="1363025"/>
            <a:chOff x="440519" y="2015636"/>
            <a:chExt cx="4829006" cy="1363025"/>
          </a:xfrm>
        </p:grpSpPr>
        <p:pic>
          <p:nvPicPr>
            <p:cNvPr descr="A black frame with a white background&#10;&#10;AI-generated content may be incorrect." id="244" name="Google Shape;244;p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440519" y="2015636"/>
              <a:ext cx="4454075" cy="13630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5" name="Google Shape;245;p7"/>
            <p:cNvSpPr txBox="1"/>
            <p:nvPr/>
          </p:nvSpPr>
          <p:spPr>
            <a:xfrm>
              <a:off x="678656" y="2797968"/>
              <a:ext cx="4590869" cy="3385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-347345" lvl="0" marL="347345" marR="0" rtl="0" algn="l">
                <a:spcBef>
                  <a:spcPts val="0"/>
                </a:spcBef>
                <a:spcAft>
                  <a:spcPts val="0"/>
                </a:spcAft>
                <a:buClr>
                  <a:srgbClr val="0C0C0C"/>
                </a:buClr>
                <a:buSzPts val="1600"/>
                <a:buFont typeface="Arial"/>
                <a:buChar char="•"/>
              </a:pPr>
              <a:r>
                <a:rPr lang="en-US" sz="1600">
                  <a:solidFill>
                    <a:srgbClr val="0C0C0C"/>
                  </a:solidFill>
                  <a:latin typeface="Arial"/>
                  <a:ea typeface="Arial"/>
                  <a:cs typeface="Arial"/>
                  <a:sym typeface="Arial"/>
                </a:rPr>
                <a:t>Model / API /Framework</a:t>
              </a:r>
              <a:endParaRPr sz="1800">
                <a:solidFill>
                  <a:srgbClr val="0C0C0C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6" name="Google Shape;246;p7"/>
            <p:cNvSpPr txBox="1"/>
            <p:nvPr/>
          </p:nvSpPr>
          <p:spPr>
            <a:xfrm>
              <a:off x="678656" y="2381249"/>
              <a:ext cx="2928938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000">
                  <a:solidFill>
                    <a:srgbClr val="7A1128"/>
                  </a:solidFill>
                  <a:latin typeface="Cambria"/>
                  <a:ea typeface="Cambria"/>
                  <a:cs typeface="Cambria"/>
                  <a:sym typeface="Cambria"/>
                </a:rPr>
                <a:t>AI/ML</a:t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47" name="Google Shape;247;p7"/>
          <p:cNvGrpSpPr/>
          <p:nvPr/>
        </p:nvGrpSpPr>
        <p:grpSpPr>
          <a:xfrm>
            <a:off x="5881675" y="4456429"/>
            <a:ext cx="5345731" cy="1363035"/>
            <a:chOff x="440531" y="3545150"/>
            <a:chExt cx="4829025" cy="1155114"/>
          </a:xfrm>
        </p:grpSpPr>
        <p:pic>
          <p:nvPicPr>
            <p:cNvPr descr="A black frame with a white background&#10;&#10;AI-generated content may be incorrect." id="248" name="Google Shape;248;p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440531" y="3545150"/>
              <a:ext cx="4454062" cy="115511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9" name="Google Shape;249;p7"/>
            <p:cNvSpPr txBox="1"/>
            <p:nvPr/>
          </p:nvSpPr>
          <p:spPr>
            <a:xfrm>
              <a:off x="678656" y="4119562"/>
              <a:ext cx="4590900" cy="286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-347345" lvl="0" marL="347345" marR="0" rtl="0" algn="l">
                <a:spcBef>
                  <a:spcPts val="0"/>
                </a:spcBef>
                <a:spcAft>
                  <a:spcPts val="0"/>
                </a:spcAft>
                <a:buClr>
                  <a:srgbClr val="0C0C0C"/>
                </a:buClr>
                <a:buSzPts val="1600"/>
                <a:buFont typeface="Arial"/>
                <a:buChar char="•"/>
              </a:pPr>
              <a:r>
                <a:rPr lang="en-US" sz="1600">
                  <a:solidFill>
                    <a:srgbClr val="0C0C0C"/>
                  </a:solidFill>
                  <a:latin typeface="Arial"/>
                  <a:ea typeface="Arial"/>
                  <a:cs typeface="Arial"/>
                  <a:sym typeface="Arial"/>
                </a:rPr>
                <a:t>Modular / Scalable / Secure / API</a:t>
              </a:r>
              <a:r>
                <a:rPr lang="en-US" sz="1600">
                  <a:solidFill>
                    <a:srgbClr val="21110C"/>
                  </a:solidFill>
                  <a:latin typeface="Arial"/>
                  <a:ea typeface="Arial"/>
                  <a:cs typeface="Arial"/>
                  <a:sym typeface="Arial"/>
                </a:rPr>
                <a:t>-</a:t>
              </a:r>
              <a:r>
                <a:rPr lang="en-US" sz="1600">
                  <a:solidFill>
                    <a:srgbClr val="0C0C0C"/>
                  </a:solidFill>
                  <a:latin typeface="Arial"/>
                  <a:ea typeface="Arial"/>
                  <a:cs typeface="Arial"/>
                  <a:sym typeface="Arial"/>
                </a:rPr>
                <a:t>Driven</a:t>
              </a:r>
              <a:endParaRPr sz="1600">
                <a:solidFill>
                  <a:srgbClr val="0C0C0C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0" name="Google Shape;250;p7"/>
            <p:cNvSpPr txBox="1"/>
            <p:nvPr/>
          </p:nvSpPr>
          <p:spPr>
            <a:xfrm>
              <a:off x="678656" y="3702843"/>
              <a:ext cx="2928900" cy="339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000">
                  <a:solidFill>
                    <a:srgbClr val="7A1128"/>
                  </a:solidFill>
                  <a:latin typeface="Cambria"/>
                  <a:ea typeface="Cambria"/>
                  <a:cs typeface="Cambria"/>
                  <a:sym typeface="Cambria"/>
                </a:rPr>
                <a:t>Architecture Principle</a:t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51" name="Rounded Rectangle 250"/>
          <p:cNvSpPr/>
          <p:nvPr/>
        </p:nvSpPr>
        <p:spPr>
          <a:xfrm>
            <a:off x="731520" y="1645920"/>
            <a:ext cx="3291840" cy="2011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64592" bIns="137160"/>
          <a:lstStyle/>
          <a:p>
            <a:pPr algn="ctr">
              <a:spcAft>
                <a:spcPts val="600"/>
              </a:spcAft>
              <a:defRPr sz="1400" b="1">
                <a:solidFill>
                  <a:srgbClr val="0E7490"/>
                </a:solidFill>
              </a:defRPr>
            </a:pPr>
            <a:r>
              <a:t>Frontend</a:t>
            </a:r>
          </a:p>
          <a:p>
            <a:pPr>
              <a:spcAft>
                <a:spcPts val="200"/>
              </a:spcAft>
              <a:defRPr sz="1050">
                <a:solidFill>
                  <a:srgbClr val="334155"/>
                </a:solidFill>
              </a:defRPr>
            </a:pPr>
            <a:r>
              <a:t>• Next.js 14 (React 18 App Router)</a:t>
            </a:r>
          </a:p>
          <a:p>
            <a:pPr>
              <a:spcAft>
                <a:spcPts val="200"/>
              </a:spcAft>
              <a:defRPr sz="1050">
                <a:solidFill>
                  <a:srgbClr val="334155"/>
                </a:solidFill>
              </a:defRPr>
            </a:pPr>
            <a:r>
              <a:t>• TypeScript 5.6 &amp; Tailwind CSS 3.4</a:t>
            </a:r>
          </a:p>
          <a:p>
            <a:pPr>
              <a:spcAft>
                <a:spcPts val="200"/>
              </a:spcAft>
              <a:defRPr sz="1050">
                <a:solidFill>
                  <a:srgbClr val="334155"/>
                </a:solidFill>
              </a:defRPr>
            </a:pPr>
            <a:r>
              <a:t>• Lucide Icons &amp; Responsive Panels</a:t>
            </a:r>
          </a:p>
          <a:p>
            <a:pPr>
              <a:spcAft>
                <a:spcPts val="200"/>
              </a:spcAft>
              <a:defRPr sz="1050">
                <a:solidFill>
                  <a:srgbClr val="334155"/>
                </a:solidFill>
              </a:defRPr>
            </a:pPr>
            <a:r>
              <a:t>• Live interactive probe execution</a:t>
            </a:r>
          </a:p>
        </p:txBody>
      </p:sp>
      <p:sp>
        <p:nvSpPr>
          <p:cNvPr id="252" name="Rounded Rectangle 251"/>
          <p:cNvSpPr/>
          <p:nvPr/>
        </p:nvSpPr>
        <p:spPr>
          <a:xfrm>
            <a:off x="4297680" y="1645920"/>
            <a:ext cx="3291840" cy="2011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64592" bIns="137160"/>
          <a:lstStyle/>
          <a:p>
            <a:pPr algn="ctr">
              <a:spcAft>
                <a:spcPts val="600"/>
              </a:spcAft>
              <a:defRPr sz="1400" b="1">
                <a:solidFill>
                  <a:srgbClr val="0E7490"/>
                </a:solidFill>
              </a:defRPr>
            </a:pPr>
            <a:r>
              <a:t>Backend</a:t>
            </a:r>
          </a:p>
          <a:p>
            <a:pPr>
              <a:spcAft>
                <a:spcPts val="200"/>
              </a:spcAft>
              <a:defRPr sz="1050">
                <a:solidFill>
                  <a:srgbClr val="334155"/>
                </a:solidFill>
              </a:defRPr>
            </a:pPr>
            <a:r>
              <a:t>• FastAPI 0.115 &amp; Python 3.12</a:t>
            </a:r>
          </a:p>
          <a:p>
            <a:pPr>
              <a:spcAft>
                <a:spcPts val="200"/>
              </a:spcAft>
              <a:defRPr sz="1050">
                <a:solidFill>
                  <a:srgbClr val="334155"/>
                </a:solidFill>
              </a:defRPr>
            </a:pPr>
            <a:r>
              <a:t>• Pydantic v2 Strict Data Contracts</a:t>
            </a:r>
          </a:p>
          <a:p>
            <a:pPr>
              <a:spcAft>
                <a:spcPts val="200"/>
              </a:spcAft>
              <a:defRPr sz="1050">
                <a:solidFill>
                  <a:srgbClr val="334155"/>
                </a:solidFill>
              </a:defRPr>
            </a:pPr>
            <a:r>
              <a:t>• Uvicorn ASGI with Lifespan state</a:t>
            </a:r>
          </a:p>
          <a:p>
            <a:pPr>
              <a:spcAft>
                <a:spcPts val="200"/>
              </a:spcAft>
              <a:defRPr sz="1050">
                <a:solidFill>
                  <a:srgbClr val="334155"/>
                </a:solidFill>
              </a:defRPr>
            </a:pPr>
            <a:r>
              <a:t>• HTTPX Async HTTP Probe Client</a:t>
            </a:r>
          </a:p>
        </p:txBody>
      </p:sp>
      <p:sp>
        <p:nvSpPr>
          <p:cNvPr id="253" name="Rounded Rectangle 252"/>
          <p:cNvSpPr/>
          <p:nvPr/>
        </p:nvSpPr>
        <p:spPr>
          <a:xfrm>
            <a:off x="7863840" y="1645920"/>
            <a:ext cx="3291840" cy="2011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64592" bIns="137160"/>
          <a:lstStyle/>
          <a:p>
            <a:pPr algn="ctr">
              <a:spcAft>
                <a:spcPts val="600"/>
              </a:spcAft>
              <a:defRPr sz="1400" b="1">
                <a:solidFill>
                  <a:srgbClr val="0E7490"/>
                </a:solidFill>
              </a:defRPr>
            </a:pPr>
            <a:r>
              <a:t>Database &amp; Ledger</a:t>
            </a:r>
          </a:p>
          <a:p>
            <a:pPr>
              <a:spcAft>
                <a:spcPts val="200"/>
              </a:spcAft>
              <a:defRPr sz="1050">
                <a:solidFill>
                  <a:srgbClr val="334155"/>
                </a:solidFill>
              </a:defRPr>
            </a:pPr>
            <a:r>
              <a:t>• Thread-Safe In-Memory Case Store</a:t>
            </a:r>
          </a:p>
          <a:p>
            <a:pPr>
              <a:spcAft>
                <a:spcPts val="200"/>
              </a:spcAft>
              <a:defRPr sz="1050">
                <a:solidFill>
                  <a:srgbClr val="334155"/>
                </a:solidFill>
              </a:defRPr>
            </a:pPr>
            <a:r>
              <a:t>• Synchronized Ingestion Cluster Index</a:t>
            </a:r>
          </a:p>
          <a:p>
            <a:pPr>
              <a:spcAft>
                <a:spcPts val="200"/>
              </a:spcAft>
              <a:defRPr sz="1050">
                <a:solidFill>
                  <a:srgbClr val="334155"/>
                </a:solidFill>
              </a:defRPr>
            </a:pPr>
            <a:r>
              <a:t>• Cryptographic SHA-256 Hash Chain</a:t>
            </a:r>
          </a:p>
          <a:p>
            <a:pPr>
              <a:spcAft>
                <a:spcPts val="200"/>
              </a:spcAft>
              <a:defRPr sz="1050">
                <a:solidFill>
                  <a:srgbClr val="334155"/>
                </a:solidFill>
              </a:defRPr>
            </a:pPr>
            <a:r>
              <a:t>• prev_hash Non-Repudiation</a:t>
            </a:r>
          </a:p>
        </p:txBody>
      </p:sp>
      <p:sp>
        <p:nvSpPr>
          <p:cNvPr id="254" name="Rounded Rectangle 253"/>
          <p:cNvSpPr/>
          <p:nvPr/>
        </p:nvSpPr>
        <p:spPr>
          <a:xfrm>
            <a:off x="731520" y="3840480"/>
            <a:ext cx="3291840" cy="2011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64592" bIns="137160"/>
          <a:lstStyle/>
          <a:p>
            <a:pPr algn="ctr">
              <a:spcAft>
                <a:spcPts val="600"/>
              </a:spcAft>
              <a:defRPr sz="1400" b="1">
                <a:solidFill>
                  <a:srgbClr val="0E7490"/>
                </a:solidFill>
              </a:defRPr>
            </a:pPr>
            <a:r>
              <a:t>AI / ML Guardrails</a:t>
            </a:r>
          </a:p>
          <a:p>
            <a:pPr>
              <a:spcAft>
                <a:spcPts val="200"/>
              </a:spcAft>
              <a:defRPr sz="1050">
                <a:solidFill>
                  <a:srgbClr val="334155"/>
                </a:solidFill>
              </a:defRPr>
            </a:pPr>
            <a:r>
              <a:t>• Dual-Rail Orchestrator (GPT-4o/Claude)</a:t>
            </a:r>
          </a:p>
          <a:p>
            <a:pPr>
              <a:spcAft>
                <a:spcPts val="200"/>
              </a:spcAft>
              <a:defRPr sz="1050">
                <a:solidFill>
                  <a:srgbClr val="334155"/>
                </a:solidFill>
              </a:defRPr>
            </a:pPr>
            <a:r>
              <a:t>• 24-Field Prompt Quarantine Sanitizer</a:t>
            </a:r>
          </a:p>
          <a:p>
            <a:pPr>
              <a:spcAft>
                <a:spcPts val="200"/>
              </a:spcAft>
              <a:defRPr sz="1050">
                <a:solidFill>
                  <a:srgbClr val="334155"/>
                </a:solidFill>
              </a:defRPr>
            </a:pPr>
            <a:r>
              <a:t>• Schema Output Grounding Validator</a:t>
            </a:r>
          </a:p>
          <a:p>
            <a:pPr>
              <a:spcAft>
                <a:spcPts val="200"/>
              </a:spcAft>
              <a:defRPr sz="1050">
                <a:solidFill>
                  <a:srgbClr val="334155"/>
                </a:solidFill>
              </a:defRPr>
            </a:pPr>
            <a:r>
              <a:t>• 16/16 Adversarial Tests Passed</a:t>
            </a:r>
          </a:p>
        </p:txBody>
      </p:sp>
      <p:sp>
        <p:nvSpPr>
          <p:cNvPr id="255" name="Rounded Rectangle 254"/>
          <p:cNvSpPr/>
          <p:nvPr/>
        </p:nvSpPr>
        <p:spPr>
          <a:xfrm>
            <a:off x="4297680" y="3840480"/>
            <a:ext cx="3291840" cy="2011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64592" bIns="137160"/>
          <a:lstStyle/>
          <a:p>
            <a:pPr algn="ctr">
              <a:spcAft>
                <a:spcPts val="600"/>
              </a:spcAft>
              <a:defRPr sz="1400" b="1">
                <a:solidFill>
                  <a:srgbClr val="0E7490"/>
                </a:solidFill>
              </a:defRPr>
            </a:pPr>
            <a:r>
              <a:t>Tools &amp; Validation</a:t>
            </a:r>
          </a:p>
          <a:p>
            <a:pPr>
              <a:spcAft>
                <a:spcPts val="200"/>
              </a:spcAft>
              <a:defRPr sz="1050">
                <a:solidFill>
                  <a:srgbClr val="334155"/>
                </a:solidFill>
              </a:defRPr>
            </a:pPr>
            <a:r>
              <a:t>• Docker &amp; Docker Compose Isolation</a:t>
            </a:r>
          </a:p>
          <a:p>
            <a:pPr>
              <a:spcAft>
                <a:spcPts val="200"/>
              </a:spcAft>
              <a:defRPr sz="1050">
                <a:solidFill>
                  <a:srgbClr val="334155"/>
                </a:solidFill>
              </a:defRPr>
            </a:pPr>
            <a:r>
              <a:t>• Pytest (77 Python backend tests)</a:t>
            </a:r>
          </a:p>
          <a:p>
            <a:pPr>
              <a:spcAft>
                <a:spcPts val="200"/>
              </a:spcAft>
              <a:defRPr sz="1050">
                <a:solidFill>
                  <a:srgbClr val="334155"/>
                </a:solidFill>
              </a:defRPr>
            </a:pPr>
            <a:r>
              <a:t>• Vitest (13 TypeScript tests)</a:t>
            </a:r>
          </a:p>
          <a:p>
            <a:pPr>
              <a:spcAft>
                <a:spcPts val="200"/>
              </a:spcAft>
              <a:defRPr sz="1050">
                <a:solidFill>
                  <a:srgbClr val="334155"/>
                </a:solidFill>
              </a:defRPr>
            </a:pPr>
            <a:r>
              <a:t>• Trivy, Semgrep, Nuclei Parsers</a:t>
            </a:r>
          </a:p>
        </p:txBody>
      </p:sp>
      <p:sp>
        <p:nvSpPr>
          <p:cNvPr id="256" name="Rounded Rectangle 255"/>
          <p:cNvSpPr/>
          <p:nvPr/>
        </p:nvSpPr>
        <p:spPr>
          <a:xfrm>
            <a:off x="7863840" y="3840480"/>
            <a:ext cx="3291840" cy="2011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64592" bIns="137160"/>
          <a:lstStyle/>
          <a:p>
            <a:pPr algn="ctr">
              <a:spcAft>
                <a:spcPts val="600"/>
              </a:spcAft>
              <a:defRPr sz="1400" b="1">
                <a:solidFill>
                  <a:srgbClr val="0E7490"/>
                </a:solidFill>
              </a:defRPr>
            </a:pPr>
            <a:r>
              <a:t>Architecture Principles</a:t>
            </a:r>
          </a:p>
          <a:p>
            <a:pPr>
              <a:spcAft>
                <a:spcPts val="200"/>
              </a:spcAft>
              <a:defRPr sz="1050">
                <a:solidFill>
                  <a:srgbClr val="334155"/>
                </a:solidFill>
              </a:defRPr>
            </a:pPr>
            <a:r>
              <a:t>• Dual-Rail Zero-Trust (Code proves, AI explains)</a:t>
            </a:r>
          </a:p>
          <a:p>
            <a:pPr>
              <a:spcAft>
                <a:spcPts val="200"/>
              </a:spcAft>
              <a:defRPr sz="1050">
                <a:solidFill>
                  <a:srgbClr val="334155"/>
                </a:solidFill>
              </a:defRPr>
            </a:pPr>
            <a:r>
              <a:t>• Fail-Safe Bounded Probes (Timeouts = Inconclusive)</a:t>
            </a:r>
          </a:p>
          <a:p>
            <a:pPr>
              <a:spcAft>
                <a:spcPts val="200"/>
              </a:spcAft>
              <a:defRPr sz="1050">
                <a:solidFill>
                  <a:srgbClr val="334155"/>
                </a:solidFill>
              </a:defRPr>
            </a:pPr>
            <a:r>
              <a:t>• Zero Autonomous Exploitation (No weaponization)</a:t>
            </a:r>
          </a:p>
          <a:p>
            <a:pPr>
              <a:spcAft>
                <a:spcPts val="200"/>
              </a:spcAft>
              <a:defRPr sz="1050">
                <a:solidFill>
                  <a:srgbClr val="334155"/>
                </a:solidFill>
              </a:defRPr>
            </a:pPr>
            <a:r>
              <a:t>• 90.5% Alert Noise Elimination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20C08"/>
        </a:solidFill>
      </p:bgPr>
    </p:bg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9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C9993F"/>
          </a:solidFill>
          <a:ln cap="flat" cmpd="sng" w="9525">
            <a:solidFill>
              <a:srgbClr val="C9993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9"/>
          <p:cNvSpPr txBox="1"/>
          <p:nvPr/>
        </p:nvSpPr>
        <p:spPr>
          <a:xfrm>
            <a:off x="10067449" y="6348414"/>
            <a:ext cx="1680211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F5EBD2"/>
                </a:solidFill>
                <a:latin typeface="Arial"/>
                <a:ea typeface="Arial"/>
                <a:cs typeface="Arial"/>
                <a:sym typeface="Arial"/>
              </a:rPr>
              <a:t>MIT ACSC • ALANDI, PUNE</a:t>
            </a:r>
            <a:endParaRPr/>
          </a:p>
        </p:txBody>
      </p:sp>
      <p:sp>
        <p:nvSpPr>
          <p:cNvPr id="257" name="Google Shape;257;p9"/>
          <p:cNvSpPr/>
          <p:nvPr/>
        </p:nvSpPr>
        <p:spPr>
          <a:xfrm>
            <a:off x="411480" y="6336792"/>
            <a:ext cx="11338560" cy="9144"/>
          </a:xfrm>
          <a:prstGeom prst="rect">
            <a:avLst/>
          </a:prstGeom>
          <a:solidFill>
            <a:srgbClr val="8B5B24"/>
          </a:solidFill>
          <a:ln cap="flat" cmpd="sng" w="9525">
            <a:solidFill>
              <a:srgbClr val="8B5B2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9"/>
          <p:cNvSpPr/>
          <p:nvPr/>
        </p:nvSpPr>
        <p:spPr>
          <a:xfrm>
            <a:off x="19774376" y="0"/>
            <a:ext cx="4142232" cy="6858000"/>
          </a:xfrm>
          <a:prstGeom prst="rect">
            <a:avLst/>
          </a:prstGeom>
          <a:solidFill>
            <a:srgbClr val="21110C"/>
          </a:solidFill>
          <a:ln cap="flat" cmpd="sng" w="9525">
            <a:solidFill>
              <a:srgbClr val="21110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9"/>
          <p:cNvSpPr txBox="1"/>
          <p:nvPr/>
        </p:nvSpPr>
        <p:spPr>
          <a:xfrm>
            <a:off x="416719" y="-7286626"/>
            <a:ext cx="6369843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strike="noStrike">
                <a:solidFill>
                  <a:srgbClr val="F5EBD2"/>
                </a:solidFill>
                <a:latin typeface="Angsana New"/>
                <a:ea typeface="Angsana New"/>
                <a:cs typeface="Angsana New"/>
                <a:sym typeface="Angsana New"/>
              </a:rPr>
              <a:t>KURUKSHETRA 2.0</a:t>
            </a:r>
            <a:r>
              <a:rPr b="0" i="0" lang="en-US" sz="3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​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9"/>
          <p:cNvSpPr txBox="1"/>
          <p:nvPr/>
        </p:nvSpPr>
        <p:spPr>
          <a:xfrm>
            <a:off x="416718" y="-6834188"/>
            <a:ext cx="2583656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F5EBD2"/>
                </a:solidFill>
                <a:latin typeface="Angsana New"/>
                <a:ea typeface="Angsana New"/>
                <a:cs typeface="Angsana New"/>
                <a:sym typeface="Angsana New"/>
              </a:rPr>
              <a:t>HACKFEST 2026</a:t>
            </a:r>
            <a:endParaRPr sz="2800">
              <a:solidFill>
                <a:srgbClr val="000000"/>
              </a:solidFill>
              <a:latin typeface="Angsana New"/>
              <a:ea typeface="Angsana New"/>
              <a:cs typeface="Angsana New"/>
              <a:sym typeface="Angsana New"/>
            </a:endParaRPr>
          </a:p>
        </p:txBody>
      </p:sp>
      <p:sp>
        <p:nvSpPr>
          <p:cNvPr id="261" name="Google Shape;261;p9"/>
          <p:cNvSpPr txBox="1"/>
          <p:nvPr/>
        </p:nvSpPr>
        <p:spPr>
          <a:xfrm>
            <a:off x="19942969" y="345282"/>
            <a:ext cx="3810001" cy="9848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00">
                <a:solidFill>
                  <a:srgbClr val="F5EBD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TITLE PAGE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62" name="Google Shape;262;p9"/>
          <p:cNvPicPr preferRelativeResize="0"/>
          <p:nvPr/>
        </p:nvPicPr>
        <p:blipFill rotWithShape="1">
          <a:blip r:embed="rId3">
            <a:alphaModFix amt="27000"/>
          </a:blip>
          <a:srcRect b="0" l="0" r="0" t="0"/>
          <a:stretch/>
        </p:blipFill>
        <p:spPr>
          <a:xfrm>
            <a:off x="2994191" y="135857"/>
            <a:ext cx="6159809" cy="6022060"/>
          </a:xfrm>
          <a:prstGeom prst="rect">
            <a:avLst/>
          </a:prstGeom>
          <a:noFill/>
          <a:ln>
            <a:noFill/>
          </a:ln>
        </p:spPr>
      </p:pic>
      <p:sp>
        <p:nvSpPr>
          <p:cNvPr id="263" name="Google Shape;263;p9"/>
          <p:cNvSpPr txBox="1"/>
          <p:nvPr/>
        </p:nvSpPr>
        <p:spPr>
          <a:xfrm>
            <a:off x="285750" y="130969"/>
            <a:ext cx="1714500" cy="3812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400"/>
              </a:spcAft>
              <a:buNone/>
              <a:defRPr sz="1200" b="1"/>
            </a:pPr>
            <a:r>
              <a:t>Sudarshan_MITAOE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9"/>
          <p:cNvSpPr txBox="1"/>
          <p:nvPr/>
        </p:nvSpPr>
        <p:spPr>
          <a:xfrm>
            <a:off x="411479" y="6348415"/>
            <a:ext cx="239554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F5EBD2"/>
                </a:solidFill>
                <a:latin typeface="Arial"/>
                <a:ea typeface="Arial"/>
                <a:cs typeface="Arial"/>
                <a:sym typeface="Arial"/>
              </a:rPr>
              <a:t>07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9"/>
          <p:cNvSpPr txBox="1"/>
          <p:nvPr/>
        </p:nvSpPr>
        <p:spPr>
          <a:xfrm>
            <a:off x="4046411" y="2639959"/>
            <a:ext cx="4068870" cy="10156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THANK YOU</a:t>
            </a:r>
            <a:endParaRPr sz="6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TextBox 265"/>
          <p:cNvSpPr txBox="1"/>
          <p:nvPr/>
        </p:nvSpPr>
        <p:spPr>
          <a:xfrm>
            <a:off x="2286000" y="3840480"/>
            <a:ext cx="76196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E7490"/>
                </a:solidFill>
              </a:defRPr>
            </a:pPr>
            <a:r>
              <a:t>CyberYukti — Autonomous Vulnerability Triage &amp; Evidence Engine</a:t>
            </a:r>
          </a:p>
          <a:p>
            <a:pPr algn="ctr">
              <a:defRPr sz="1400">
                <a:solidFill>
                  <a:srgbClr val="64748B"/>
                </a:solidFill>
              </a:defRPr>
            </a:pPr>
            <a:r>
              <a:t>Questions &amp; Answers  •  GitHub: https://github.com/Sahas2711/CyberYukti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</cp:coreProperties>
</file>