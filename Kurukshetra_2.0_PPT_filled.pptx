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j3QD7TZ0cUpJcg0hSEMExATbbO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412480" y="5943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411480" y="1242345"/>
            <a:ext cx="11338560" cy="13716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8415814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16730" y="321475"/>
            <a:ext cx="7467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16731" y="785800"/>
            <a:ext cx="461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43023" y="2677625"/>
            <a:ext cx="72150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800" b="1"/>
            </a:pPr>
            <a:r>
              <a:t>•  Problem ID - PS16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800" b="1"/>
            </a:pPr>
          </a:p>
          <a:p>
            <a:pPr>
              <a:spcAft>
                <a:spcPts val="400"/>
              </a:spcAft>
              <a:defRPr sz="1800" b="1"/>
            </a:pPr>
          </a:p>
          <a:p>
            <a:pPr>
              <a:spcAft>
                <a:spcPts val="400"/>
              </a:spcAft>
              <a:defRPr sz="1800" b="1"/>
            </a:pPr>
          </a:p>
          <a:p>
            <a:pPr>
              <a:spcAft>
                <a:spcPts val="400"/>
              </a:spcAft>
              <a:defRPr sz="1800" b="1"/>
            </a:pPr>
          </a:p>
          <a:p>
            <a:pPr>
              <a:spcAft>
                <a:spcPts val="400"/>
              </a:spcAft>
              <a:defRPr sz="1800" b="1"/>
            </a:pPr>
            <a:r>
              <a:t>•  Problem Statement - Autonomous Vulnerability Triage &amp; Evidence Engine</a:t>
            </a:r>
          </a:p>
          <a:p>
            <a:pPr>
              <a:spcAft>
                <a:spcPts val="400"/>
              </a:spcAft>
              <a:defRPr sz="1800" b="1"/>
            </a:pPr>
            <a:r>
              <a:t>•  Theme - Cyber &amp; Blockchain</a:t>
            </a:r>
          </a:p>
          <a:p>
            <a:pPr>
              <a:spcAft>
                <a:spcPts val="400"/>
              </a:spcAft>
              <a:defRPr sz="1800" b="1"/>
            </a:pPr>
            <a:r>
              <a:t>•  Team ID - KH079</a:t>
            </a:r>
          </a:p>
          <a:p>
            <a:pPr>
              <a:spcAft>
                <a:spcPts val="400"/>
              </a:spcAft>
              <a:defRPr sz="1800" b="1"/>
            </a:pPr>
            <a:r>
              <a:t>•  Team name - Sudarshan_MITAOE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8384538" y="332790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43" y="1365975"/>
            <a:ext cx="4819650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330" y="176212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285750" y="130975"/>
            <a:ext cx="38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2893218" y="381000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Understanding the Problem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25" y="1331027"/>
            <a:ext cx="9894099" cy="13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615225" y="1566200"/>
            <a:ext cx="9497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7345" lvl="0" marL="347345" marR="0" rtl="0" algn="l">
              <a:spcBef>
                <a:spcPts val="0"/>
              </a:spcBef>
              <a:spcAft>
                <a:spcPts val="400"/>
              </a:spcAft>
              <a:buClr>
                <a:srgbClr val="241014"/>
              </a:buClr>
              <a:buSzPts val="1800"/>
              <a:buFont typeface="Arial"/>
              <a:buChar char="–"/>
              <a:defRPr sz="1400" b="1"/>
            </a:pPr>
            <a:r>
              <a:t>CyberYukti is an autonomous vulnerability triage and deterministic evidence validation engine that reduces alert noise generated by scanning tools into verified, prioritized, and analyst-ready security cases.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frame with a white background&#10;&#10;AI-generated content may be incorrect."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26" y="2717151"/>
            <a:ext cx="5679276" cy="361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615225" y="3272000"/>
            <a:ext cx="5480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8745" lvl="0" marL="347345" marR="0" rtl="0" algn="l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600"/>
              <a:buFont typeface="Arial"/>
              <a:buNone/>
              <a:defRPr sz="1200" b="0"/>
            </a:pPr>
            <a:r>
              <a:t>• Alert Fatigue: 1 real flaw triggers 10+ alerts across Trivy, Semgrep, and Nuclei.</a:t>
            </a: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200" b="0"/>
            </a:pPr>
          </a:p>
          <a:p>
            <a:pPr>
              <a:spcAft>
                <a:spcPts val="400"/>
              </a:spcAft>
              <a:defRPr sz="1200" b="0"/>
            </a:pPr>
          </a:p>
          <a:p>
            <a:pPr>
              <a:spcAft>
                <a:spcPts val="400"/>
              </a:spcAft>
              <a:defRPr sz="1200" b="0"/>
            </a:pPr>
            <a:r>
              <a:t>• Stale &amp; Ghost Findings: Up to 40% of scanner alerts flag libraries already patched in production or unexposed.</a:t>
            </a:r>
          </a:p>
          <a:p>
            <a:pPr>
              <a:spcAft>
                <a:spcPts val="400"/>
              </a:spcAft>
              <a:defRPr sz="1200" b="0"/>
            </a:pPr>
            <a:r>
              <a:t>• Naive AI Risks: Generic LLM wrappers hallucinate fake CVEs and are vulnerable to prompt-injection attacks in scanner outputs.</a:t>
            </a:r>
          </a:p>
        </p:txBody>
      </p:sp>
      <p:pic>
        <p:nvPicPr>
          <p:cNvPr descr="A black frame with a white background&#10;&#10;AI-generated content may be incorrect."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3009817"/>
            <a:ext cx="5238751" cy="333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6215064" y="4012406"/>
            <a:ext cx="4988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0"/>
            </a:pPr>
            <a:r>
              <a:t>• Security Analysts (SOC, AppSec): Overwhelmed by alert volume and manual verification.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200" b="0"/>
            </a:pPr>
          </a:p>
          <a:p>
            <a:pPr>
              <a:spcAft>
                <a:spcPts val="400"/>
              </a:spcAft>
              <a:defRPr sz="1200" b="0"/>
            </a:pPr>
          </a:p>
          <a:p>
            <a:pPr>
              <a:spcAft>
                <a:spcPts val="400"/>
              </a:spcAft>
              <a:defRPr sz="1200" b="0"/>
            </a:pPr>
            <a:r>
              <a:t>• DevSecOps Engineers: Blocked by false-positive security tickets that stall CI/CD.</a:t>
            </a:r>
          </a:p>
          <a:p>
            <a:pPr>
              <a:spcAft>
                <a:spcPts val="400"/>
              </a:spcAft>
              <a:defRPr sz="1200" b="0"/>
            </a:pPr>
            <a:r>
              <a:t>• CISOs &amp; Compliance Teams: Lack tamper-evident audit trails for SOC 2 / ISO 27001.</a:t>
            </a:r>
          </a:p>
        </p:txBody>
      </p:sp>
      <p:sp>
        <p:nvSpPr>
          <p:cNvPr id="115" name="Google Shape;115;p2"/>
          <p:cNvSpPr txBox="1"/>
          <p:nvPr/>
        </p:nvSpPr>
        <p:spPr>
          <a:xfrm>
            <a:off x="651019" y="2858138"/>
            <a:ext cx="609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Problem Analysis / Background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369844" y="3464719"/>
            <a:ext cx="4131469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Who It Affects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330" y="176212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285750" y="130975"/>
            <a:ext cx="29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EBD2"/>
                </a:solidFill>
              </a:rPr>
              <a:t>Sudarshan_MITAOE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2893225" y="307227"/>
            <a:ext cx="6381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25" y="1110226"/>
            <a:ext cx="9894099" cy="18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654850" y="1657875"/>
            <a:ext cx="9479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045" lvl="0" marL="347345" rtl="0" algn="l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  <a:defRPr sz="1150" b="0"/>
            </a:pPr>
            <a:r>
              <a:t>• Idea / Solution: Dual-rail autonomous engine combining deterministic sandbox probes with bounded AI explanation.</a:t>
            </a:r>
            <a:endParaRPr sz="1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0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50" b="0"/>
            </a:pPr>
          </a:p>
          <a:p>
            <a:pPr>
              <a:spcAft>
                <a:spcPts val="400"/>
              </a:spcAft>
              <a:defRPr sz="1150" b="0"/>
            </a:pPr>
            <a:r>
              <a:t>• Direct PS16 Alignment: Ingests multi-format scans, clusters duplicates (90.5% noise cut), safely probes sandbox targets, calculates math-based risk, and enforces human approval.</a:t>
            </a:r>
          </a:p>
        </p:txBody>
      </p:sp>
      <p:pic>
        <p:nvPicPr>
          <p:cNvPr descr="A black frame with a white background&#10;&#10;AI-generated content may be incorrect." id="134" name="Google Shape;1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8" y="2997911"/>
            <a:ext cx="5238751" cy="333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 txBox="1"/>
          <p:nvPr/>
        </p:nvSpPr>
        <p:spPr>
          <a:xfrm>
            <a:off x="583405" y="4012406"/>
            <a:ext cx="4786309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50" b="0"/>
            </a:pPr>
            <a:r>
              <a:t>• Dual-Rail Zero-Trust: LLM never decides security truth; mathematical code handles validation and scoring.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50" b="0"/>
            </a:pPr>
          </a:p>
          <a:p>
            <a:pPr>
              <a:spcAft>
                <a:spcPts val="400"/>
              </a:spcAft>
              <a:defRPr sz="1150" b="0"/>
            </a:pPr>
          </a:p>
          <a:p>
            <a:pPr>
              <a:spcAft>
                <a:spcPts val="400"/>
              </a:spcAft>
              <a:defRPr sz="1150" b="0"/>
            </a:pPr>
            <a:r>
              <a:t>• Dynamic Re-Prioritization: Live sandbox probes prove patched assets, auto-demoting priority (P2 → P3).</a:t>
            </a:r>
          </a:p>
          <a:p>
            <a:pPr>
              <a:spcAft>
                <a:spcPts val="400"/>
              </a:spcAft>
              <a:defRPr sz="1150" b="0"/>
            </a:pPr>
            <a:r>
              <a:t>• Poison-Proof AI: 24-field quarantine sanitizer prevents prompt-injection hijacking.</a:t>
            </a:r>
          </a:p>
        </p:txBody>
      </p:sp>
      <p:pic>
        <p:nvPicPr>
          <p:cNvPr descr="A black frame with a white background&#10;&#10;AI-generated content may be incorrect." id="136" name="Google Shape;13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3009817"/>
            <a:ext cx="5238751" cy="333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6215064" y="4012406"/>
            <a:ext cx="4988718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50" b="0"/>
            </a:pPr>
            <a:r>
              <a:t>• Conventional Tools (Jira, DefectDojo): Passive databases requiring manual verification.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50" b="0"/>
            </a:pPr>
          </a:p>
          <a:p>
            <a:pPr>
              <a:spcAft>
                <a:spcPts val="400"/>
              </a:spcAft>
              <a:defRPr sz="1150" b="0"/>
            </a:pPr>
          </a:p>
          <a:p>
            <a:pPr>
              <a:spcAft>
                <a:spcPts val="400"/>
              </a:spcAft>
              <a:defRPr sz="1150" b="0"/>
            </a:pPr>
            <a:r>
              <a:t>• Commercial ASPMs (Snyk, Wiz): Proprietary reachability with vendor lock-in.</a:t>
            </a:r>
          </a:p>
          <a:p>
            <a:pPr>
              <a:spcAft>
                <a:spcPts val="400"/>
              </a:spcAft>
              <a:defRPr sz="1150" b="0"/>
            </a:pPr>
            <a:r>
              <a:t>• CyberYukti Advantage: Cross-tool SAST × DAST × SCA reachability on open-source tools with SHA-256 hash chaining.</a:t>
            </a:r>
          </a:p>
        </p:txBody>
      </p:sp>
      <p:sp>
        <p:nvSpPr>
          <p:cNvPr id="138" name="Google Shape;138;p3"/>
          <p:cNvSpPr txBox="1"/>
          <p:nvPr/>
        </p:nvSpPr>
        <p:spPr>
          <a:xfrm>
            <a:off x="654844" y="3452812"/>
            <a:ext cx="3988594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Innovation &amp; Uniqueness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369844" y="3464719"/>
            <a:ext cx="41314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Existing Solutions / Similar Work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651013" y="1261525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Solution Overview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330" y="176212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2893218" y="378649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Technical Approach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9" y="1069099"/>
            <a:ext cx="4988720" cy="24338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654844" y="1881188"/>
            <a:ext cx="6905624" cy="959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00" b="0"/>
            </a:pPr>
            <a:r>
              <a:t>• Languages &amp; Frameworks: Python 3.12, FastAPI, Next.js 14, React 18, TypeScript, Tailwind CSS.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  <a:r>
              <a:t>• Validation Libraries: Pydantic v2, Python packaging.version, HTTPX, Docker SDK.</a:t>
            </a:r>
          </a:p>
          <a:p>
            <a:pPr>
              <a:spcAft>
                <a:spcPts val="400"/>
              </a:spcAft>
              <a:defRPr sz="1100" b="0"/>
            </a:pPr>
            <a:r>
              <a:t>• AI Engine: Dual-Rail Orchestrator (GPT-4o / Claude 3.5 / Local Mock) + Regex Sanitizer.</a:t>
            </a:r>
          </a:p>
        </p:txBody>
      </p:sp>
      <p:pic>
        <p:nvPicPr>
          <p:cNvPr descr="A black frame with a white background&#10;&#10;AI-generated content may be incorrect." id="158" name="Google Shape;1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8" y="3438441"/>
            <a:ext cx="4988721" cy="285052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 txBox="1"/>
          <p:nvPr/>
        </p:nvSpPr>
        <p:spPr>
          <a:xfrm>
            <a:off x="607218" y="4393406"/>
            <a:ext cx="4595810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050" b="0"/>
            </a:pPr>
            <a:r>
              <a:t>1. Ingestion: Parsers normalize Trivy, Semgrep, Nuclei, SARIF, and CSV into CanonicalFinding objects.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050" b="0"/>
            </a:pPr>
          </a:p>
          <a:p>
            <a:pPr>
              <a:spcAft>
                <a:spcPts val="400"/>
              </a:spcAft>
              <a:defRPr sz="1050" b="0"/>
            </a:pPr>
          </a:p>
          <a:p>
            <a:pPr>
              <a:spcAft>
                <a:spcPts val="400"/>
              </a:spcAft>
              <a:defRPr sz="1050" b="0"/>
            </a:pPr>
          </a:p>
          <a:p>
            <a:pPr>
              <a:spcAft>
                <a:spcPts val="400"/>
              </a:spcAft>
              <a:defRPr sz="1050" b="0"/>
            </a:pPr>
          </a:p>
          <a:p>
            <a:pPr>
              <a:spcAft>
                <a:spcPts val="400"/>
              </a:spcAft>
              <a:defRPr sz="1050" b="0"/>
            </a:pPr>
            <a:r>
              <a:t>2. Clustering: 3-tier dedup eliminates exact hash duplicates, generic CWEs, and correlates SAST routes with DAST endpoints.</a:t>
            </a:r>
          </a:p>
          <a:p>
            <a:pPr>
              <a:spcAft>
                <a:spcPts val="400"/>
              </a:spcAft>
              <a:defRPr sz="1050" b="0"/>
            </a:pPr>
            <a:r>
              <a:t>3. Sandbox Probes: Safe, read-only probes inspect target manifests, sockets, and endpoints.</a:t>
            </a:r>
          </a:p>
          <a:p>
            <a:pPr>
              <a:spcAft>
                <a:spcPts val="400"/>
              </a:spcAft>
              <a:defRPr sz="1050" b="0"/>
            </a:pPr>
            <a:r>
              <a:t>4. Deterministic Evaluation: Returns CONFIRMED, NOT_CONFIRMED, or INCONCLUSIVE.</a:t>
            </a:r>
          </a:p>
          <a:p>
            <a:pPr>
              <a:spcAft>
                <a:spcPts val="400"/>
              </a:spcAft>
              <a:defRPr sz="1050" b="0"/>
            </a:pPr>
            <a:r>
              <a:t>5. Dynamic Risk: Math formula computes P1–P4 score, AI explains, and analyst approves or overrides.</a:t>
            </a:r>
          </a:p>
        </p:txBody>
      </p:sp>
      <p:sp>
        <p:nvSpPr>
          <p:cNvPr id="160" name="Google Shape;160;p4"/>
          <p:cNvSpPr txBox="1"/>
          <p:nvPr/>
        </p:nvSpPr>
        <p:spPr>
          <a:xfrm>
            <a:off x="607219" y="3869530"/>
            <a:ext cx="47744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Working / Implementation Approach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66751" y="1428750"/>
            <a:ext cx="2928938" cy="762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5435" y="1881186"/>
            <a:ext cx="5905101" cy="420290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 txBox="1"/>
          <p:nvPr/>
        </p:nvSpPr>
        <p:spPr>
          <a:xfrm>
            <a:off x="7310438" y="3607594"/>
            <a:ext cx="26431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400"/>
              </a:spcAft>
              <a:buNone/>
              <a:defRPr sz="1200" b="0"/>
            </a:pP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1" sz="1400">
              <a:solidFill>
                <a:srgbClr val="7A6A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Picture 163" descr="cyberyukti_system_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2985" y="2337327"/>
            <a:ext cx="5850000" cy="3290625"/>
          </a:xfrm>
          <a:prstGeom prst="rect">
            <a:avLst/>
          </a:prstGeom>
        </p:spPr>
      </p:pic>
      <p:pic>
        <p:nvPicPr>
          <p:cNvPr id="165" name="Picture 164" descr="cyberyukti_system_architec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2985" y="2337327"/>
            <a:ext cx="5850000" cy="3290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349" y="118703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425856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800">
              <a:solidFill>
                <a:srgbClr val="101418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2907595" y="363044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Feasibility, Viability &amp; Impact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9" y="1054722"/>
            <a:ext cx="5003097" cy="276447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654844" y="1881188"/>
            <a:ext cx="4590869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00" b="0"/>
            </a:pPr>
            <a:r>
              <a:t>• Technical Feasibility: 100% operational; 93/93 automated tests pass across backend and frontend (80 pytest + 13 vitest).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  <a:r>
              <a:t>• Operational Viability: Runs containerized in Docker or lightweight CI/CD subprocess sandboxes.</a:t>
            </a:r>
          </a:p>
          <a:p>
            <a:pPr>
              <a:spcAft>
                <a:spcPts val="400"/>
              </a:spcAft>
              <a:defRPr sz="1100" b="0"/>
            </a:pPr>
            <a:r>
              <a:t>• Risk &amp; Mitigation: Read-only probes with hard 5.0s timeouts and target allowlists eliminate target crash risk. Dual-rail prompt sanitization blocks prompt-injection hijacking.</a:t>
            </a:r>
          </a:p>
        </p:txBody>
      </p:sp>
      <p:pic>
        <p:nvPicPr>
          <p:cNvPr descr="A black frame with a white background&#10;&#10;AI-generated content may be incorrect." id="181" name="Google Shape;1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0040" y="1037422"/>
            <a:ext cx="5060607" cy="279301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 txBox="1"/>
          <p:nvPr/>
        </p:nvSpPr>
        <p:spPr>
          <a:xfrm>
            <a:off x="5653671" y="1877368"/>
            <a:ext cx="4595810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00" b="0"/>
            </a:pPr>
            <a:r>
              <a:t>• 90.5% Noise Cut: 42 raw scanner alerts collapse into 4 actionable incident clusters.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  <a:r>
              <a:t>• 31.5 Hours Saved: Saves ~25m per duplicate and ~45m per auto-probed patch ($3,150+ saved/cycle).</a:t>
            </a:r>
          </a:p>
          <a:p>
            <a:pPr>
              <a:spcAft>
                <a:spcPts val="400"/>
              </a:spcAft>
              <a:defRPr sz="1100" b="0"/>
            </a:pPr>
            <a:r>
              <a:t>• Instant MTTR: Triage turnaround drops from days to seconds.</a:t>
            </a:r>
          </a:p>
          <a:p>
            <a:pPr>
              <a:spcAft>
                <a:spcPts val="400"/>
              </a:spcAft>
              <a:defRPr sz="1100" b="0"/>
            </a:pPr>
            <a:r>
              <a:t>• Audit Ready: SHA-256 hash-chained ledger provides compliance non-repudiation.</a:t>
            </a:r>
          </a:p>
        </p:txBody>
      </p:sp>
      <p:sp>
        <p:nvSpPr>
          <p:cNvPr id="183" name="Google Shape;183;p5"/>
          <p:cNvSpPr txBox="1"/>
          <p:nvPr/>
        </p:nvSpPr>
        <p:spPr>
          <a:xfrm>
            <a:off x="5610540" y="1425379"/>
            <a:ext cx="47744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Impact &amp; Benefits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666751" y="1428750"/>
            <a:ext cx="29289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Feasibility &amp; Viability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frame with a white background&#10;&#10;AI-generated content may be incorrect." id="185" name="Google Shape;18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342" y="3674546"/>
            <a:ext cx="11346208" cy="237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/>
        </p:nvSpPr>
        <p:spPr>
          <a:xfrm>
            <a:off x="690113" y="4018472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AI/ML Details (if applicable)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646981" y="4406660"/>
            <a:ext cx="6096000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7345" lvl="0" marL="347345" marR="0" rtl="0" algn="l">
              <a:spcBef>
                <a:spcPts val="0"/>
              </a:spcBef>
              <a:spcAft>
                <a:spcPts val="400"/>
              </a:spcAft>
              <a:buClr>
                <a:srgbClr val="241014"/>
              </a:buClr>
              <a:buSzPts val="2000"/>
              <a:buFont typeface="Arial"/>
              <a:buChar char="–"/>
              <a:defRPr sz="1100" b="0"/>
            </a:pPr>
            <a:r>
              <a:t>• Architecture: Dual-Rail Guarded Pipeline (GPT-4o / Claude 3.5 / Local Mock Provider).</a:t>
            </a:r>
            <a:endParaRPr/>
          </a:p>
          <a:p>
            <a:pPr indent="-347345" lvl="0" marL="347345" marR="0" rtl="0" algn="l">
              <a:spcBef>
                <a:spcPts val="0"/>
              </a:spcBef>
              <a:spcAft>
                <a:spcPts val="0"/>
              </a:spcAft>
              <a:buClr>
                <a:srgbClr val="241014"/>
              </a:buClr>
              <a:buSzPts val="2000"/>
              <a:buFont typeface="Arial"/>
              <a:buChar char="–"/>
            </a:pP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  <a:r>
              <a:t>• Prompt Defense: 24-field sanitizer quarantines untrusted text in &lt;UNTRUSTED&gt; delimiters.</a:t>
            </a:r>
          </a:p>
          <a:p>
            <a:pPr>
              <a:spcAft>
                <a:spcPts val="400"/>
              </a:spcAft>
              <a:defRPr sz="1100" b="0"/>
            </a:pPr>
            <a:r>
              <a:t>• Grounding Validator: Enforces strict JSON schema and verifies that all CVEs and CVSS numbers in the output exist in the input (16/16 adversarial injection tests passed).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349" y="118703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2907595" y="363044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Research &amp; References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19" y="997213"/>
            <a:ext cx="10121436" cy="2821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654844" y="1881188"/>
            <a:ext cx="459086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7345" lvl="0" marL="347345" marR="0" rtl="0" algn="l">
              <a:spcBef>
                <a:spcPts val="0"/>
              </a:spcBef>
              <a:spcAft>
                <a:spcPts val="400"/>
              </a:spcAft>
              <a:buClr>
                <a:srgbClr val="241014"/>
              </a:buClr>
              <a:buSzPts val="2000"/>
              <a:buFont typeface="Arial"/>
              <a:buChar char="–"/>
              <a:defRPr sz="1150" b="0"/>
            </a:pPr>
            <a:r>
              <a:t>• Standards: NIST SP 800-115 (Information Security Testing), OWASP Top 10 for LLMs (2025), FIRST EPSS v3, CISA KEV.</a:t>
            </a:r>
            <a:endParaRPr/>
          </a:p>
          <a:p>
            <a:pPr indent="-347345" lvl="0" marL="347345" marR="0" rtl="0" algn="l">
              <a:spcBef>
                <a:spcPts val="0"/>
              </a:spcBef>
              <a:spcAft>
                <a:spcPts val="0"/>
              </a:spcAft>
              <a:buClr>
                <a:srgbClr val="241014"/>
              </a:buClr>
              <a:buSzPts val="2000"/>
              <a:buFont typeface="Arial"/>
              <a:buChar char="–"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50" b="0"/>
            </a:pPr>
          </a:p>
          <a:p>
            <a:pPr>
              <a:spcAft>
                <a:spcPts val="400"/>
              </a:spcAft>
              <a:defRPr sz="1150" b="0"/>
            </a:pPr>
            <a:r>
              <a:t>• Academic Papers &amp; Frameworks: First.org EPSS probability modeling, GitLab multi-scanner deduplication heuristics.</a:t>
            </a:r>
          </a:p>
        </p:txBody>
      </p:sp>
      <p:pic>
        <p:nvPicPr>
          <p:cNvPr descr="A black frame with a white background&#10;&#10;AI-generated content may be incorrect." id="205" name="Google Shape;2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20" y="3596591"/>
            <a:ext cx="5664455" cy="276425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679105" y="4594689"/>
            <a:ext cx="459581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100" b="0"/>
            </a:pPr>
            <a:r>
              <a:t>• FIRST EPSS Framework: https://www.first.org/epss/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</a:p>
          <a:p>
            <a:pPr>
              <a:spcAft>
                <a:spcPts val="400"/>
              </a:spcAft>
              <a:defRPr sz="1100" b="0"/>
            </a:pPr>
            <a:r>
              <a:t>• CISA KEV Catalog: https://www.cisa.gov/known-exploited-vulnerabilities-catalog</a:t>
            </a:r>
          </a:p>
          <a:p>
            <a:pPr>
              <a:spcAft>
                <a:spcPts val="400"/>
              </a:spcAft>
              <a:defRPr sz="1100" b="0"/>
            </a:pPr>
            <a:r>
              <a:t>• National Vulnerability Database (NVD): https://nvd.nist.gov/</a:t>
            </a:r>
          </a:p>
          <a:p>
            <a:pPr>
              <a:spcAft>
                <a:spcPts val="400"/>
              </a:spcAft>
              <a:defRPr sz="1100" b="0"/>
            </a:pPr>
            <a:r>
              <a:t>• OWASP LLM Top 10: https://owasp.org/www-project-top-10-for-large-language-model-applications/</a:t>
            </a:r>
          </a:p>
        </p:txBody>
      </p:sp>
      <p:sp>
        <p:nvSpPr>
          <p:cNvPr id="207" name="Google Shape;207;p6"/>
          <p:cNvSpPr txBox="1"/>
          <p:nvPr/>
        </p:nvSpPr>
        <p:spPr>
          <a:xfrm>
            <a:off x="707861" y="4128323"/>
            <a:ext cx="47744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References / Sources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666751" y="1428750"/>
            <a:ext cx="29289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Research Conducted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frame with a white background&#10;&#10;AI-generated content may be incorrect." id="209" name="Google Shape;2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1400" y="3596591"/>
            <a:ext cx="5678831" cy="276425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6516312" y="4594689"/>
            <a:ext cx="4293885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300" b="1"/>
            </a:pPr>
            <a:r>
              <a:t>Team's public GitHub repository URL:</a:t>
            </a: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8745" lvl="0" marL="34734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rgbClr val="2410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400"/>
              </a:spcAft>
              <a:defRPr sz="1300" b="1"/>
            </a:pPr>
          </a:p>
          <a:p>
            <a:pPr>
              <a:spcAft>
                <a:spcPts val="400"/>
              </a:spcAft>
              <a:defRPr sz="1300" b="1"/>
            </a:pPr>
          </a:p>
          <a:p>
            <a:pPr>
              <a:spcAft>
                <a:spcPts val="400"/>
              </a:spcAft>
              <a:defRPr sz="1300" b="1"/>
            </a:pPr>
            <a:r>
              <a:t>https://github.com/Sahas2711/CyberYukti</a:t>
            </a:r>
          </a:p>
          <a:p>
            <a:pPr>
              <a:spcAft>
                <a:spcPts val="400"/>
              </a:spcAft>
              <a:defRPr sz="1300" b="1"/>
            </a:pPr>
            <a:r>
              <a:t>(Active Implementation Branch: person-2-evidence-engine)</a:t>
            </a:r>
          </a:p>
        </p:txBody>
      </p:sp>
      <p:sp>
        <p:nvSpPr>
          <p:cNvPr id="211" name="Google Shape;211;p6"/>
          <p:cNvSpPr txBox="1"/>
          <p:nvPr/>
        </p:nvSpPr>
        <p:spPr>
          <a:xfrm>
            <a:off x="6516313" y="4128322"/>
            <a:ext cx="47744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A1128"/>
                </a:solidFill>
                <a:latin typeface="Cambria"/>
                <a:ea typeface="Cambria"/>
                <a:cs typeface="Cambria"/>
                <a:sym typeface="Cambria"/>
              </a:rPr>
              <a:t>GitHub Repository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349" y="118703"/>
            <a:ext cx="1712120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2907595" y="363044"/>
            <a:ext cx="6381750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EBD2"/>
                </a:solidFill>
                <a:latin typeface="Cambria"/>
                <a:ea typeface="Cambria"/>
                <a:cs typeface="Cambria"/>
                <a:sym typeface="Cambria"/>
              </a:rPr>
              <a:t>Build With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7"/>
          <p:cNvGrpSpPr/>
          <p:nvPr/>
        </p:nvGrpSpPr>
        <p:grpSpPr>
          <a:xfrm>
            <a:off x="535775" y="1122612"/>
            <a:ext cx="5345731" cy="1363035"/>
            <a:chOff x="416719" y="973401"/>
            <a:chExt cx="4829025" cy="1155114"/>
          </a:xfrm>
        </p:grpSpPr>
        <p:pic>
          <p:nvPicPr>
            <p:cNvPr id="228" name="Google Shape;22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6719" y="973401"/>
              <a:ext cx="4454061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7"/>
            <p:cNvSpPr txBox="1"/>
            <p:nvPr/>
          </p:nvSpPr>
          <p:spPr>
            <a:xfrm>
              <a:off x="654844" y="1547813"/>
              <a:ext cx="45909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React / React Native / HTML / CSS / etc.</a:t>
              </a:r>
              <a:endParaRPr sz="16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 txBox="1"/>
            <p:nvPr/>
          </p:nvSpPr>
          <p:spPr>
            <a:xfrm>
              <a:off x="654845" y="1131094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Frontend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7"/>
          <p:cNvGrpSpPr/>
          <p:nvPr/>
        </p:nvGrpSpPr>
        <p:grpSpPr>
          <a:xfrm>
            <a:off x="535801" y="2782146"/>
            <a:ext cx="5345731" cy="1363035"/>
            <a:chOff x="440531" y="2223556"/>
            <a:chExt cx="4829025" cy="1155114"/>
          </a:xfrm>
        </p:grpSpPr>
        <p:pic>
          <p:nvPicPr>
            <p:cNvPr descr="A black frame with a white background&#10;&#10;AI-generated content may be incorrect." id="232" name="Google Shape;232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0531" y="2223556"/>
              <a:ext cx="4454062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7"/>
            <p:cNvSpPr txBox="1"/>
            <p:nvPr/>
          </p:nvSpPr>
          <p:spPr>
            <a:xfrm>
              <a:off x="678656" y="2797968"/>
              <a:ext cx="45909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2111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21110C"/>
                  </a:solidFill>
                  <a:latin typeface="Arial"/>
                  <a:ea typeface="Arial"/>
                  <a:cs typeface="Arial"/>
                  <a:sym typeface="Arial"/>
                </a:rPr>
                <a:t>Supabase / Firebase / MongoDB / etc.</a:t>
              </a:r>
              <a:endParaRPr sz="2400">
                <a:solidFill>
                  <a:srgbClr val="2111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678656" y="2381249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Database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535775" y="4432502"/>
            <a:ext cx="5345731" cy="1363035"/>
            <a:chOff x="440531" y="3545150"/>
            <a:chExt cx="4829025" cy="1155114"/>
          </a:xfrm>
        </p:grpSpPr>
        <p:pic>
          <p:nvPicPr>
            <p:cNvPr descr="A black frame with a white background&#10;&#10;AI-generated content may be incorrect." id="236" name="Google Shape;236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0531" y="3545150"/>
              <a:ext cx="4454062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7"/>
            <p:cNvSpPr txBox="1"/>
            <p:nvPr/>
          </p:nvSpPr>
          <p:spPr>
            <a:xfrm>
              <a:off x="678656" y="4056275"/>
              <a:ext cx="4590900" cy="4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</a:rPr>
                <a:t>Docker &amp; Docker Compose, Pytest (77 tests), Vitest (13 tests), HTTPX.</a:t>
              </a:r>
              <a:endParaRPr sz="16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678656" y="3660652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Tools &amp; Services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5881676" y="1121608"/>
            <a:ext cx="5345731" cy="1363035"/>
            <a:chOff x="416719" y="973401"/>
            <a:chExt cx="4829025" cy="1155114"/>
          </a:xfrm>
        </p:grpSpPr>
        <p:pic>
          <p:nvPicPr>
            <p:cNvPr id="240" name="Google Shape;24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6719" y="973401"/>
              <a:ext cx="4454061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7"/>
            <p:cNvSpPr txBox="1"/>
            <p:nvPr/>
          </p:nvSpPr>
          <p:spPr>
            <a:xfrm>
              <a:off x="654844" y="1547813"/>
              <a:ext cx="45909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Node.js /  Python / etc.</a:t>
              </a:r>
              <a:endParaRPr sz="16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7"/>
            <p:cNvSpPr txBox="1"/>
            <p:nvPr/>
          </p:nvSpPr>
          <p:spPr>
            <a:xfrm>
              <a:off x="654845" y="1131094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Backend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7"/>
          <p:cNvGrpSpPr/>
          <p:nvPr/>
        </p:nvGrpSpPr>
        <p:grpSpPr>
          <a:xfrm>
            <a:off x="5881674" y="2801450"/>
            <a:ext cx="5345710" cy="1363025"/>
            <a:chOff x="440519" y="2015636"/>
            <a:chExt cx="4829006" cy="1363025"/>
          </a:xfrm>
        </p:grpSpPr>
        <p:pic>
          <p:nvPicPr>
            <p:cNvPr descr="A black frame with a white background&#10;&#10;AI-generated content may be incorrect." id="244" name="Google Shape;24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0519" y="2015636"/>
              <a:ext cx="4454075" cy="1363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7"/>
            <p:cNvSpPr txBox="1"/>
            <p:nvPr/>
          </p:nvSpPr>
          <p:spPr>
            <a:xfrm>
              <a:off x="678656" y="2797968"/>
              <a:ext cx="45908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Model / API /Framework</a:t>
              </a:r>
              <a:endParaRPr sz="18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678656" y="2381249"/>
              <a:ext cx="292893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AI/ML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5881675" y="4456429"/>
            <a:ext cx="5345731" cy="1363035"/>
            <a:chOff x="440531" y="3545150"/>
            <a:chExt cx="4829025" cy="1155114"/>
          </a:xfrm>
        </p:grpSpPr>
        <p:pic>
          <p:nvPicPr>
            <p:cNvPr descr="A black frame with a white background&#10;&#10;AI-generated content may be incorrect." id="248" name="Google Shape;24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0531" y="3545150"/>
              <a:ext cx="4454062" cy="1155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7"/>
            <p:cNvSpPr txBox="1"/>
            <p:nvPr/>
          </p:nvSpPr>
          <p:spPr>
            <a:xfrm>
              <a:off x="678656" y="4119562"/>
              <a:ext cx="45909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7345" lvl="0" marL="347345" marR="0" rtl="0" algn="l"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Modular / Scalable / Secure / API</a:t>
              </a:r>
              <a:r>
                <a:rPr lang="en-US" sz="1600">
                  <a:solidFill>
                    <a:srgbClr val="21110C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lang="en-US" sz="1600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Driven</a:t>
              </a:r>
              <a:endParaRPr sz="16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678656" y="3702843"/>
              <a:ext cx="29289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A1128"/>
                  </a:solidFill>
                  <a:latin typeface="Cambria"/>
                  <a:ea typeface="Cambria"/>
                  <a:cs typeface="Cambria"/>
                  <a:sym typeface="Cambria"/>
                </a:rPr>
                <a:t>Architecture Principle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Rounded Rectangle 250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Frontend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Next.js 14 (React 18 App Router)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TypeScript 5.6 &amp; Tailwind CSS 3.4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Lucide Icons &amp; Responsive Panels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Live interactive probe execution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429768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Backend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FastAPI 0.115 &amp; Python 3.12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Pydantic v2 Strict Data Contracts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Uvicorn ASGI with Lifespan state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HTTPX Async HTTP Probe Client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786384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Database &amp; Ledger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Thread-Safe In-Memory Case Store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Synchronized Ingestion Cluster Index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Cryptographic SHA-256 Hash Chain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prev_hash Non-Repudiation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731520" y="384048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AI / ML Guardrails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Dual-Rail Orchestrator (GPT-4o/Claude)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24-Field Prompt Quarantine Sanitizer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Schema Output Grounding Validator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16/16 Adversarial Tests Passed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4297680" y="384048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Tools &amp; Validation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Docker &amp; Docker Compose Isolation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Pytest (77 Python backend tests)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Vitest (13 TypeScript tests)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Trivy, Semgrep, Nuclei Parsers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7863840" y="384048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Architecture Principles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Dual-Rail Zero-Trust (Code proves, AI explains)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Fail-Safe Bounded Probes (Timeouts = Inconclusive)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Zero Autonomous Exploitation (No weaponization)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90.5% Alert Noise Elimination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Frontend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Next.js 14 (React 18 App Router)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TypeScript 5.6 &amp; Tailwind CSS 3.4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Lucide Icons &amp; Responsive Panels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Live interactive probe execution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429768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Backend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FastAPI 0.115 &amp; Python 3.12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Pydantic v2 Strict Data Contracts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Uvicorn ASGI with Lifespan state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HTTPX Async HTTP Probe Client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786384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Database &amp; Ledger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Thread-Safe In-Memory Case Store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Synchronized Ingestion Cluster Index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Cryptographic SHA-256 Hash Chain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prev_hash Non-Repudiation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731520" y="384048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AI / ML Guardrails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Dual-Rail Orchestrator (GPT-4o/Claude)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24-Field Prompt Quarantine Sanitizer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Schema Output Grounding Validator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16/16 Adversarial Tests Passed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4297680" y="384048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Tools &amp; Validation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Docker &amp; Docker Compose Isolation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Pytest (77 Python backend tests)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Vitest (13 TypeScript tests)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Trivy, Semgrep, Nuclei Parsers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7863840" y="384048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E7490"/>
                </a:solidFill>
              </a:defRPr>
            </a:pPr>
            <a:r>
              <a:t>Architecture Principles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Dual-Rail Zero-Trust (Code proves, AI explains)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Fail-Safe Bounded Probes (Timeouts = Inconclusive)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Zero Autonomous Exploitation (No weaponization)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</a:defRPr>
            </a:pPr>
            <a:r>
              <a:t>• 90.5% Alert Noise Elimination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0C08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993F"/>
          </a:solidFill>
          <a:ln cap="flat" cmpd="sng" w="9525">
            <a:solidFill>
              <a:srgbClr val="C999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10067449" y="6348414"/>
            <a:ext cx="1680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MIT ACSC • ALANDI, PUNE</a:t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411480" y="6336792"/>
            <a:ext cx="11338560" cy="9144"/>
          </a:xfrm>
          <a:prstGeom prst="rect">
            <a:avLst/>
          </a:prstGeom>
          <a:solidFill>
            <a:srgbClr val="8B5B24"/>
          </a:solidFill>
          <a:ln cap="flat" cmpd="sng" w="9525">
            <a:solidFill>
              <a:srgbClr val="8B5B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9774376" y="0"/>
            <a:ext cx="4142232" cy="6858000"/>
          </a:xfrm>
          <a:prstGeom prst="rect">
            <a:avLst/>
          </a:prstGeom>
          <a:solidFill>
            <a:srgbClr val="21110C"/>
          </a:solidFill>
          <a:ln cap="flat" cmpd="sng" w="9525">
            <a:solidFill>
              <a:srgbClr val="2111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416719" y="-7286626"/>
            <a:ext cx="636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KURUKSHETRA 2.0</a:t>
            </a:r>
            <a:r>
              <a:rPr b="0" i="0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416718" y="-6834188"/>
            <a:ext cx="25836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EBD2"/>
                </a:solidFill>
                <a:latin typeface="Angsana New"/>
                <a:ea typeface="Angsana New"/>
                <a:cs typeface="Angsana New"/>
                <a:sym typeface="Angsana New"/>
              </a:rPr>
              <a:t>HACKFEST 2026</a:t>
            </a:r>
            <a:endParaRPr sz="2800">
              <a:solidFill>
                <a:srgbClr val="000000"/>
              </a:solidFill>
              <a:latin typeface="Angsana New"/>
              <a:ea typeface="Angsana New"/>
              <a:cs typeface="Angsana New"/>
              <a:sym typeface="Angsana New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19942969" y="345282"/>
            <a:ext cx="3810001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5EB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9"/>
          <p:cNvPicPr preferRelativeResize="0"/>
          <p:nvPr/>
        </p:nvPicPr>
        <p:blipFill rotWithShape="1">
          <a:blip r:embed="rId3">
            <a:alphaModFix amt="27000"/>
          </a:blip>
          <a:srcRect b="0" l="0" r="0" t="0"/>
          <a:stretch/>
        </p:blipFill>
        <p:spPr>
          <a:xfrm>
            <a:off x="2994191" y="135857"/>
            <a:ext cx="6159809" cy="60220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 txBox="1"/>
          <p:nvPr/>
        </p:nvSpPr>
        <p:spPr>
          <a:xfrm>
            <a:off x="285750" y="130969"/>
            <a:ext cx="1714500" cy="38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400"/>
              </a:spcAft>
              <a:buNone/>
              <a:defRPr sz="1200" b="1"/>
            </a:pPr>
            <a:r>
              <a:t>Sudarshan_MITAOE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411479" y="6348415"/>
            <a:ext cx="239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EBD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4046411" y="2639959"/>
            <a:ext cx="406887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6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2286000" y="3840480"/>
            <a:ext cx="7619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E7490"/>
                </a:solidFill>
              </a:defRPr>
            </a:pPr>
            <a:r>
              <a:t>CyberYukti — Autonomous Vulnerability Triage &amp; Evidence Engine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Questions &amp; Answers  •  GitHub: https://github.com/Sahas2711/CyberYukti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286000" y="3840480"/>
            <a:ext cx="7619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E7490"/>
                </a:solidFill>
              </a:defRPr>
            </a:pPr>
            <a:r>
              <a:t>CyberYukti — Autonomous Vulnerability Triage &amp; Evidence Engine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Questions &amp; Answers  •  GitHub: https://github.com/Sahas2711/CyberYukti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